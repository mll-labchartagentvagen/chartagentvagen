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6000" b="1" i="0">
                <a:solidFill>
                  <a:srgbClr val="1A1A1A"/>
                </a:solidFill>
                <a:latin typeface="Avenir Next"/>
              </a:rPr>
              <a:t>The </a:t>
            </a:r>
            <a:r>
              <a:rPr sz="6000" b="1" i="0">
                <a:solidFill>
                  <a:srgbClr val="8C1515"/>
                </a:solidFill>
                <a:latin typeface="Avenir Next"/>
              </a:rPr>
              <a:t>Latent</a:t>
            </a:r>
            <a:r>
              <a:rPr sz="6000" b="1" i="0">
                <a:solidFill>
                  <a:srgbClr val="1A1A1A"/>
                </a:solidFill>
                <a:latin typeface="Avenir Next"/>
              </a:rPr>
              <a:t> Data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6B6B6B"/>
                </a:solidFill>
                <a:latin typeface="Avenir Next"/>
              </a:rPr>
              <a:t>Evaluating VLM agents on charts as projections of a hidden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Pingyue Zhang  ·  Northwestern University  ·  chartAgent / VAGEN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Avenir Next"/>
              </a:rPr>
              <a:t>A delivery dashboard reports </a:t>
            </a:r>
            <a:r>
              <a:rPr sz="3600" b="1" i="0">
                <a:solidFill>
                  <a:srgbClr val="8C1515"/>
                </a:solidFill>
                <a:latin typeface="Avenir Next"/>
              </a:rPr>
              <a:t>31 → 18 min</a:t>
            </a:r>
            <a:r>
              <a:rPr sz="36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SwiftEats rolls out a new dispatcher. Average delivery time falls in one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286000"/>
            <a:ext cx="9265615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50592"/>
            <a:ext cx="8534095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HEADLINE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853409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Avenir Next"/>
              </a:rPr>
              <a:t>Average pickup-to-drop time: </a:t>
            </a:r>
            <a:r>
              <a:rPr sz="1900" b="1" i="0">
                <a:solidFill>
                  <a:srgbClr val="1A1A1A"/>
                </a:solidFill>
                <a:latin typeface="JetBrains Mono"/>
              </a:rPr>
              <a:t>31</a:t>
            </a:r>
            <a:r>
              <a:rPr sz="1900" b="1" i="0">
                <a:solidFill>
                  <a:srgbClr val="1A1A1A"/>
                </a:solidFill>
                <a:latin typeface="Avenir Next"/>
              </a:rPr>
              <a:t> min (old) → </a:t>
            </a:r>
            <a:r>
              <a:rPr sz="1900" b="1" i="0">
                <a:solidFill>
                  <a:srgbClr val="1A1A1A"/>
                </a:solidFill>
                <a:latin typeface="JetBrains Mono"/>
              </a:rPr>
              <a:t>18</a:t>
            </a:r>
            <a:r>
              <a:rPr sz="1900" b="1" i="0">
                <a:solidFill>
                  <a:srgbClr val="1A1A1A"/>
                </a:solidFill>
                <a:latin typeface="Avenir Next"/>
              </a:rPr>
              <a:t> min (new).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657600"/>
            <a:ext cx="9265615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822191"/>
            <a:ext cx="8534095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SAME WEEK, SAME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3409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Avenir Next"/>
              </a:rPr>
              <a:t>Refunds, cancellations, and timeouts all </a:t>
            </a:r>
            <a:r>
              <a:rPr sz="1900" b="1" i="0">
                <a:solidFill>
                  <a:srgbClr val="8C1515"/>
                </a:solidFill>
                <a:latin typeface="Avenir Next"/>
              </a:rPr>
              <a:t>rise</a:t>
            </a:r>
            <a:r>
              <a:rPr sz="19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5029200"/>
            <a:ext cx="9265615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029200"/>
            <a:ext cx="9265615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An agent must reconcile both facts from the chart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Four candidate explanations for the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31 → 18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 gap.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Each is testable from charts derived from the same underlying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5410047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7743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h₁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95727"/>
            <a:ext cx="412988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Genuine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4861407" cy="9144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The new dispatcher shortens routes across every order, every zone, every time of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410047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3047" y="237743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37743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h₂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6007" y="2395727"/>
            <a:ext cx="412988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Zone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3017520"/>
            <a:ext cx="4861407" cy="9144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The platform stops accepting orders in distant or low-density zones. Only easy orders remain.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79"/>
            <a:ext cx="5410047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57199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199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h₃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90288"/>
            <a:ext cx="412988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Denominator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79"/>
            <a:ext cx="4861407" cy="9144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The 18-minute figure averages only successful deliveries. Cancellations and timeouts are excluded.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297679"/>
            <a:ext cx="5410047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457199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457199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h₄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6007" y="4590288"/>
            <a:ext cx="412988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Metric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5212079"/>
            <a:ext cx="4861407" cy="9144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The 18 minutes covers pickup-to-drop only. Click-to-pickup waiting falls outside the window.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0160" y="6355080"/>
            <a:ext cx="963137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6355080"/>
            <a:ext cx="9631375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The Master Table fixes the truth. Each chart is one projection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Avenir Next"/>
              </a:rPr>
              <a:t>A chart is a </a:t>
            </a:r>
            <a:r>
              <a:rPr sz="3600" b="1" i="0">
                <a:solidFill>
                  <a:srgbClr val="8C1515"/>
                </a:solidFill>
                <a:latin typeface="Avenir Next"/>
              </a:rPr>
              <a:t>projection</a:t>
            </a:r>
            <a:r>
              <a:rPr sz="3600" b="1" i="0">
                <a:solidFill>
                  <a:srgbClr val="1A1A1A"/>
                </a:solidFill>
                <a:latin typeface="Avenir Next"/>
              </a:rPr>
              <a:t> of a hidden table.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Each rendered chart is a deterministic SQL query over a Master Table 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5410047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0487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VISIBLE · WHAT THE AGENT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5044287" cy="21488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Two bars. One number. 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No information about what was filtered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240280"/>
            <a:ext cx="5410047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607" y="240487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HIDDEN · WHAT THE MASTER TABLE 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2743200"/>
            <a:ext cx="5044287" cy="21488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A DAG of typed columns over atomic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047" y="3429000"/>
            <a:ext cx="786384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3429000"/>
            <a:ext cx="786384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order_id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0871" y="3429000"/>
            <a:ext cx="708660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0871" y="3429000"/>
            <a:ext cx="708660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zone_id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0971" y="3429000"/>
            <a:ext cx="864108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0971" y="3429000"/>
            <a:ext cx="864108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algorithm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6519" y="3429000"/>
            <a:ext cx="708660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6519" y="3429000"/>
            <a:ext cx="708660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86619" y="3429000"/>
            <a:ext cx="1019556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6619" y="3429000"/>
            <a:ext cx="1019556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pickup→drop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3047" y="3813048"/>
            <a:ext cx="941832" cy="29260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3813048"/>
            <a:ext cx="941832" cy="29260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JetBrains Mono"/>
              </a:rPr>
              <a:t>click→door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440680"/>
            <a:ext cx="761969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440680"/>
            <a:ext cx="761969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The truth has structure. The chart shows one slice of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Benchmarks test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reading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, not investigation.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Models must answer from one given chart. They cannot decide to look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3606698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3606698" cy="9144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5600" b="1" i="0">
                <a:solidFill>
                  <a:srgbClr val="8C1515"/>
                </a:solidFill>
                <a:latin typeface="JetBrains Mono"/>
              </a:rPr>
              <a:t>−30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324093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venir Next"/>
              </a:rPr>
              <a:t>pts on real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3149498" cy="365759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6B6B6B"/>
                </a:solidFill>
                <a:latin typeface="Avenir Next"/>
              </a:rPr>
              <a:t>ChartMuseum 2025 — human 93% vs top VLM 63%.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2498" y="2011680"/>
            <a:ext cx="3606698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2498" y="2194560"/>
            <a:ext cx="3606698" cy="9144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5600" b="1" i="0">
                <a:solidFill>
                  <a:srgbClr val="8C1515"/>
                </a:solidFill>
                <a:latin typeface="JetBrains Mono"/>
              </a:rPr>
              <a:t>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5378" y="3246120"/>
            <a:ext cx="324093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venir Next"/>
              </a:rPr>
              <a:t>charts ⇒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611880"/>
            <a:ext cx="3149498" cy="365759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6B6B6B"/>
                </a:solidFill>
                <a:latin typeface="Avenir Next"/>
              </a:rPr>
              <a:t>InterChart 2025 — accuracy falls across multi-chart splits.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2011680"/>
            <a:ext cx="3606698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2076" y="2194560"/>
            <a:ext cx="3606698" cy="9144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5600" b="1" i="0">
                <a:solidFill>
                  <a:srgbClr val="8C1515"/>
                </a:solidFill>
                <a:latin typeface="JetBrains Mono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956" y="3246120"/>
            <a:ext cx="324093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venir Next"/>
              </a:rPr>
              <a:t>ungrounded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6" y="3611880"/>
            <a:ext cx="3149498" cy="365759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6B6B6B"/>
                </a:solidFill>
                <a:latin typeface="Avenir Next"/>
              </a:rPr>
              <a:t>ChartPoint 2025 — models fail to point to correct elements.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89120"/>
            <a:ext cx="5410047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5371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EXISTING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5044287" cy="12344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JetBrains Mono"/>
              </a:rPr>
              <a:t>[chart] → answer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single-shot, no follow-up, no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89120"/>
            <a:ext cx="5410047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55371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THIS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5044287" cy="12344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JetBrains Mono"/>
              </a:rPr>
              <a:t>[D₀] ↻ request more views → answer + bbox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budgeted, grounded, multi-step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6868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Avenir Next"/>
              </a:rPr>
              <a:t>Two contributions.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A hidden Master Table to probe, and a protocol that probes it through charts.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5364327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4632807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C1 ·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4632807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Builds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4632807" cy="12801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An LLM writes Python over a typed SDK. The output is a Master Table; deterministic SQL projection yields 10–30+ chart QA tasks per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651760"/>
            <a:ext cx="5364327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0207" y="3017520"/>
            <a:ext cx="4632807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C2 · ACTIVE CHART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3474720"/>
            <a:ext cx="4632807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Investigates the world.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4206240"/>
            <a:ext cx="4632807" cy="12801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A budgeted protocol with five actions and bbox grounding. Four investigation moves: Read, Reveal, Reconcile, Debunk.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5989320"/>
            <a:ext cx="926561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989320"/>
            <a:ext cx="9265615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C1 builds the world. </a:t>
            </a:r>
            <a:r>
              <a:rPr sz="1400" b="1" i="0">
                <a:solidFill>
                  <a:srgbClr val="8C1515"/>
                </a:solidFill>
                <a:latin typeface="Avenir Next"/>
              </a:rPr>
              <a:t>C2 lets the agent investigate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Four phases. Phase 3 is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deterministic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No LLM touches the chart or the questions. The Master Table is the contract.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2522143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21992"/>
            <a:ext cx="2339263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PHASE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96312"/>
            <a:ext cx="2339263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Domain 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2339263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200+ sub-topics · cached, deduped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3623" y="2514600"/>
            <a:ext cx="365760" cy="3657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2057400"/>
            <a:ext cx="2522143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2221992"/>
            <a:ext cx="2339263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2496312"/>
            <a:ext cx="2339263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263" y="2880360"/>
            <a:ext cx="2339263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Realistic study · entities ·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7" y="2514600"/>
            <a:ext cx="365760" cy="3657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057400"/>
            <a:ext cx="2522143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2221992"/>
            <a:ext cx="2339263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496312"/>
            <a:ext cx="2339263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SDK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880360"/>
            <a:ext cx="2339263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Code-as-DGP · execution-error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9431" y="2514600"/>
            <a:ext cx="365760" cy="3657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6631" y="2057400"/>
            <a:ext cx="2522143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071" y="2221992"/>
            <a:ext cx="2339263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071" y="2496312"/>
            <a:ext cx="2339263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Master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71" y="2880360"/>
            <a:ext cx="2339263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Atomic rows · typed schema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3383279"/>
            <a:ext cx="1219169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6B6B6B"/>
                </a:solidFill>
                <a:latin typeface="Avenir Next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3484778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99431"/>
            <a:ext cx="3301898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73752"/>
            <a:ext cx="3301898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SQL Projection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57800"/>
            <a:ext cx="330189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10–30+ chart views per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6258" y="4892040"/>
            <a:ext cx="365760" cy="3657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3458" y="4434840"/>
            <a:ext cx="3484778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4898" y="4599431"/>
            <a:ext cx="3301898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4898" y="4873752"/>
            <a:ext cx="3301898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Investigation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4898" y="5257800"/>
            <a:ext cx="330189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request_view, point, commit,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6796" y="4892040"/>
            <a:ext cx="365760" cy="3657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3996" y="4434840"/>
            <a:ext cx="3484778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5436" y="4599431"/>
            <a:ext cx="3301898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6B6B"/>
                </a:solidFill>
                <a:latin typeface="JetBrains Mono"/>
              </a:rPr>
              <a:t>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5436" y="4873752"/>
            <a:ext cx="3301898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Charts, QA, bbox trails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5436" y="5257800"/>
            <a:ext cx="330189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One Master Table yields N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C1 · Building the </a:t>
            </a:r>
            <a:r>
              <a:rPr sz="5000" b="1" i="0">
                <a:solidFill>
                  <a:srgbClr val="8C1515"/>
                </a:solidFill>
                <a:latin typeface="Avenir Next"/>
              </a:rPr>
              <a:t>Master Table</a:t>
            </a:r>
            <a:r>
              <a:rPr sz="50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1920"/>
            <a:ext cx="121916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6B6B6B"/>
                </a:solidFill>
                <a:latin typeface="Avenir Next"/>
              </a:rPr>
              <a:t>Phases 0 through 3, walked through on one example.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Avenir Next"/>
              </a:rPr>
              <a:t>Phase 0 — </a:t>
            </a:r>
            <a:r>
              <a:rPr sz="3200" b="1" i="0">
                <a:solidFill>
                  <a:srgbClr val="8C1515"/>
                </a:solidFill>
                <a:latin typeface="Avenir Next"/>
              </a:rPr>
              <a:t>domain pool</a:t>
            </a:r>
            <a:r>
              <a:rPr sz="32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200+ fine-grained sub-topics, embedding-deduplicated and complexity-balanced. Generated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339333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3576218" cy="306324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7919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535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"name":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"Coffee shop POS"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2783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"topic":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"Retail &amp; Services"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0215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"tier":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"simple"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7647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"entities":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"drink"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"hour"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5079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"metrics":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"revenue"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251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"grain":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"hourly"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943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178" y="2194560"/>
            <a:ext cx="339333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2514600"/>
            <a:ext cx="3576218" cy="306324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267919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9535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"name":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"Urban food delivery"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22783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"topic":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"Logistics"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350215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"tier":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"medium"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377647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"entities":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"order"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"zone"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405079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"metrics":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"delivery_min"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43251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"grain":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"per order"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459943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194560"/>
            <a:ext cx="339333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COMPLEX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2556" y="2514600"/>
            <a:ext cx="3576218" cy="306324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5436" y="267919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29535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"name":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"Urban rail scheduling"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5436" y="322783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"topic":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"Transportation"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5436" y="350215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"tier":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"complex"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5436" y="377647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"entities":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"line"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"station"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5436" y="405079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"metrics": [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"ridership"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"on_time"</a:t>
            </a:r>
            <a:r>
              <a:rPr sz="100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5436" y="4325112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  "grain": </a:t>
            </a:r>
            <a:r>
              <a:rPr sz="1000" b="0" i="0">
                <a:solidFill>
                  <a:srgbClr val="2E7D4F"/>
                </a:solidFill>
                <a:latin typeface="JetBrains Mono"/>
              </a:rPr>
              <a:t>"daily"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5436" y="4599431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45920" y="5760720"/>
            <a:ext cx="889985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5760720"/>
            <a:ext cx="889985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Generated once and cached. Stratified sampling preserves complexity balance.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Avenir Next"/>
              </a:rPr>
              <a:t>Phase 1 — domain to </a:t>
            </a:r>
            <a:r>
              <a:rPr sz="3200" b="1" i="0">
                <a:solidFill>
                  <a:srgbClr val="8C1515"/>
                </a:solidFill>
                <a:latin typeface="Avenir Next"/>
              </a:rPr>
              <a:t>scenario</a:t>
            </a:r>
            <a:r>
              <a:rPr sz="32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Sample one domain. Instantiate entities, metrics, time grain, target rows. No chart type bound yet.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451517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INPUT ·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4698059" cy="329184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87752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43784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"name":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"Urban rail scheduling"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99816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"tier":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"complex"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55848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"entity_hint": [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"line"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"station"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],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"metric_hint": [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67912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{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"name"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"ridership"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23944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 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"unit"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"10k pax"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},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79976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{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"name"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"on_time_rate"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36008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 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"unit"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"%"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48072"/>
            <a:ext cx="4332299" cy="30175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7994" y="2103120"/>
            <a:ext cx="596934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OUTPUT · SCENARIO  (LLM)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6554" y="2423160"/>
            <a:ext cx="6152220" cy="329184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9434" y="25877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9434" y="28163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"title":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"2024 H1 Shanghai Metro Ridership Log"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9434" y="30449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"context":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"Shanghai Transport Commission collected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9434" y="32735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7D4F"/>
                </a:solidFill>
                <a:latin typeface="JetBrains Mono"/>
              </a:rPr>
              <a:t>               daily ridership and operational data..."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9434" y="35021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"entities": [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9434" y="37307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"Line 1 (Xinzhuang–Fujin Rd)"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9434" y="39593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"Line 2 (Pudong Airport–Xujing)"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 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9434" y="41879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],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9434" y="44165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"metrics": [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9434" y="46451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{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"name"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"daily_ridership"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"range"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 [5, 120]},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9434" y="48737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  {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"name"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</a:t>
            </a:r>
            <a:r>
              <a:rPr sz="1050" b="0" i="0">
                <a:solidFill>
                  <a:srgbClr val="2E7D4F"/>
                </a:solidFill>
                <a:latin typeface="JetBrains Mono"/>
              </a:rPr>
              <a:t>"on_time_rate"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, </a:t>
            </a:r>
            <a:r>
              <a:rPr sz="1050" b="1" i="0">
                <a:solidFill>
                  <a:srgbClr val="8C1515"/>
                </a:solidFill>
                <a:latin typeface="JetBrains Mono"/>
              </a:rPr>
              <a:t>"range"</a:t>
            </a:r>
            <a:r>
              <a:rPr sz="1050" b="0" i="0">
                <a:solidFill>
                  <a:srgbClr val="1A1A1A"/>
                </a:solidFill>
                <a:latin typeface="JetBrains Mono"/>
              </a:rPr>
              <a:t>: [85.0, 99.9]}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9434" y="51023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],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9434" y="53309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  "target_rows": 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9434" y="5559552"/>
            <a:ext cx="57864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JetBrains Mono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3040" y="5852160"/>
            <a:ext cx="926561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5852160"/>
            <a:ext cx="926561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Scenarios are </a:t>
            </a:r>
            <a:r>
              <a:rPr sz="1400" b="1" i="0">
                <a:solidFill>
                  <a:srgbClr val="8C1515"/>
                </a:solidFill>
                <a:latin typeface="Avenir Next"/>
              </a:rPr>
              <a:t>domain-driven</a:t>
            </a:r>
            <a:r>
              <a:rPr sz="1400" b="1" i="0">
                <a:solidFill>
                  <a:srgbClr val="1A1A1A"/>
                </a:solidFill>
                <a:latin typeface="Avenir Next"/>
              </a:rPr>
              <a:t>, not visualization-driven.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Phase 2 — the LLM writes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Python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, not JSON.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Two ordered steps. Eight call types. Every column declares its own data-generating program.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5364327" cy="3520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4815687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STEP 1 · COLUMN DECLARATIONS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add_category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91256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categorical · group · parent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93591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add_temporal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04487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time grain · derived 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06824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add_measure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stochastic root · y ~ Dist(θ)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0056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add_measure_structural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30952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DAG-derived · closed-form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2194560"/>
            <a:ext cx="5364327" cy="3520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423160"/>
            <a:ext cx="4815687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STEP 2 · RELATIONSHIPS AND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2880360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declare_orthogonal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3191256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independence across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8767" y="3593591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add_group_dependency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3904487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root-only DAG cross-group dep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4306824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inject_pattern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4617720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trend · outlier · ranking reversal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767" y="5020056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JetBrains Mono"/>
              </a:rPr>
              <a:t>set_realism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5330952"/>
            <a:ext cx="4815687" cy="31089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6B6B"/>
                </a:solidFill>
                <a:latin typeface="Avenir Next"/>
              </a:rPr>
              <a:t>noise · missingness · censoring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5852160"/>
            <a:ext cx="926561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852160"/>
            <a:ext cx="926561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Each measure is declared </a:t>
            </a:r>
            <a:r>
              <a:rPr sz="1400" b="1" i="0">
                <a:solidFill>
                  <a:srgbClr val="8C1515"/>
                </a:solidFill>
                <a:latin typeface="Avenir Next"/>
              </a:rPr>
              <a:t>once</a:t>
            </a:r>
            <a:r>
              <a:rPr sz="1400" b="1" i="0">
                <a:solidFill>
                  <a:srgbClr val="1A1A1A"/>
                </a:solidFill>
                <a:latin typeface="Avenir Next"/>
              </a:rPr>
              <a:t>. No patching across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SwiftEats —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zone × algorithm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drives both outcomes.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Acceptance and delivery time both depend on the interaction of zone and algorithm.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28655" cy="4114800"/>
          </a:xfrm>
          <a:prstGeom prst="roundRect">
            <a:avLst/>
          </a:prstGeom>
          <a:solidFill>
            <a:srgbClr val="FAFAFA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47672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A9A9A"/>
                </a:solidFill>
                <a:latin typeface="JetBrains Mono"/>
              </a:rPr>
              <a:t># Step 1: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1700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add_category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("zone_tier", values=["downtown","mid","peripheral"], group="geo")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add_category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("algorithm", values=["old","new"], group="system")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9756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add_measure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("distance_km", family="lognormal",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                param_model={"mu": 1.5, "sigma": 0.6})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7812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A9A9A"/>
                </a:solidFill>
                <a:latin typeface="JetBrains Mono"/>
              </a:rPr>
              <a:t># Step 2: zone × algorithm drives accept; both drive p→d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add_group_dependency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("accepted", on=["zone_tier","algorithm"],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5868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   conditional_weights={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9896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   ("peripheral","new"): {"yes":0.41, "no":0.59},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63924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   ("peripheral","old"): {"yes":0.82, "no":0.18}, </a:t>
            </a:r>
            <a:r>
              <a:rPr sz="1100" b="0" i="1">
                <a:solidFill>
                  <a:srgbClr val="9A9A9A"/>
                </a:solidFill>
                <a:latin typeface="JetBrains Mono"/>
              </a:rPr>
              <a:t>#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   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1980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add_measure_structural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("pickup_to_dropoff_min",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formula="8 + 3.5*distance_km - 4*(algorithm=='new')",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60036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noise={"sigma":2.0})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84064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A9A9A"/>
                </a:solidFill>
                <a:latin typeface="JetBrains Mono"/>
              </a:rPr>
              <a:t># zone-selection trick: new algo silently drops the periphery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8092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inject_pattern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("dominance_shift",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target="algorithm=='new' &amp; zone_tier=='peripheral'",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56148"/>
            <a:ext cx="10362895" cy="26974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 col="accepted", params={"drop_rate":0.43})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6035040"/>
            <a:ext cx="889985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6035040"/>
            <a:ext cx="8899855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venir Next"/>
              </a:rPr>
              <a:t>Every behavior the agent must discover is declared once in the script.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Validation runs at the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SDK level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, before any chart.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Typed exceptions feed back to the LLM. Three validator layers run after every build. Up to three retries.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6487796" cy="1691640"/>
          </a:xfrm>
          <a:prstGeom prst="roundRect">
            <a:avLst/>
          </a:prstGeom>
          <a:solidFill>
            <a:srgbClr val="F8ECEC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5939156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23A3A"/>
                </a:solidFill>
                <a:latin typeface="Avenir Next"/>
              </a:rPr>
              <a:t>ATTEMPT 1 · UNBOUNDED SPEEDUP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add_measure_structural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("pickup_to_dropoff_min",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formula="5 - 30*(algorithm=='new')")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5939156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23A3A"/>
                </a:solidFill>
                <a:latin typeface="Avenir Next"/>
              </a:rPr>
              <a:t>Validator L2: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min(p→d) = −25 &lt; 0</a:t>
            </a:r>
            <a:r>
              <a:rPr sz="1200" b="1" i="0">
                <a:solidFill>
                  <a:srgbClr val="B23A3A"/>
                </a:solidFill>
                <a:latin typeface="Avenir Next"/>
              </a:rPr>
              <a:t> ⇒ SDKException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6487796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1">
                <a:solidFill>
                  <a:srgbClr val="6B6B6B"/>
                </a:solidFill>
                <a:latin typeface="Avenir Next"/>
              </a:rPr>
              <a:t>↓  feedback to LLM, up to 3 retries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89120"/>
            <a:ext cx="6487796" cy="1691640"/>
          </a:xfrm>
          <a:prstGeom prst="roundRect">
            <a:avLst/>
          </a:prstGeom>
          <a:solidFill>
            <a:srgbClr val="EAF4EC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939156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Avenir Next"/>
              </a:rPr>
              <a:t>ATTEMPT 2 · BOUNDED, DISTANCE-AWARE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sim.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add_measure_structural</a:t>
            </a:r>
            <a:r>
              <a:rPr sz="1100" b="0" i="0">
                <a:solidFill>
                  <a:srgbClr val="2E7D4F"/>
                </a:solidFill>
                <a:latin typeface="JetBrains Mono"/>
              </a:rPr>
              <a:t>("pickup_to_dropoff_min",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38927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formula="8 + 3.5*distance_km - 4*(algorithm=='new')",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85815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7D4F"/>
                </a:solidFill>
                <a:latin typeface="JetBrains Mono"/>
              </a:rPr>
              <a:t>   noise={"sigma":2.0})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5939156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Avenir Next"/>
              </a:rPr>
              <a:t>All three layers pass. </a:t>
            </a:r>
            <a:r>
              <a:rPr sz="1200" b="0" i="0">
                <a:solidFill>
                  <a:srgbClr val="1A1A1A"/>
                </a:solidFill>
                <a:latin typeface="Avenir Next"/>
              </a:rPr>
              <a:t>1000 atomic rows written.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6476" y="2194560"/>
            <a:ext cx="4332299" cy="3886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0796" y="2377440"/>
            <a:ext cx="37836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THREE VALIDATOR LAYERS</a:t>
            </a:r>
          </a:p>
        </p:txBody>
      </p:sp>
      <p:sp>
        <p:nvSpPr>
          <p:cNvPr id="18" name="Oval 17"/>
          <p:cNvSpPr/>
          <p:nvPr/>
        </p:nvSpPr>
        <p:spPr>
          <a:xfrm>
            <a:off x="7585076" y="292607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5076" y="292607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L1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5156" y="2926079"/>
            <a:ext cx="33264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Structural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5156" y="3200400"/>
            <a:ext cx="3326459" cy="5486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Schema valid. Types compatible. Every DAG acyclic.</a:t>
            </a:r>
          </a:p>
        </p:txBody>
      </p:sp>
      <p:sp>
        <p:nvSpPr>
          <p:cNvPr id="22" name="Oval 21"/>
          <p:cNvSpPr/>
          <p:nvPr/>
        </p:nvSpPr>
        <p:spPr>
          <a:xfrm>
            <a:off x="7585076" y="397763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5076" y="397763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5156" y="3977639"/>
            <a:ext cx="33264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Statistical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156" y="4251959"/>
            <a:ext cx="3326459" cy="5486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Moments in range. Correlations feasible. Bounds respected.</a:t>
            </a:r>
          </a:p>
        </p:txBody>
      </p:sp>
      <p:sp>
        <p:nvSpPr>
          <p:cNvPr id="26" name="Oval 25"/>
          <p:cNvSpPr/>
          <p:nvPr/>
        </p:nvSpPr>
        <p:spPr>
          <a:xfrm>
            <a:off x="7585076" y="5029199"/>
            <a:ext cx="457200" cy="45720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5076" y="5029199"/>
            <a:ext cx="4572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L3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5156" y="5029199"/>
            <a:ext cx="33264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5156" y="5303519"/>
            <a:ext cx="3326459" cy="5486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Injected trends, drop-outs, and outliers are recoverable.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Avenir Next"/>
              </a:rPr>
              <a:t>The Master Table.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M is a DAG over typed columns. Each row is one atomic event.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6711513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6162873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SCHEMA DAG · SwiftEats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99815"/>
            <a:ext cx="1280160" cy="384048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8C151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99815"/>
            <a:ext cx="1280160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1515"/>
                </a:solidFill>
                <a:latin typeface="JetBrains Mono"/>
              </a:rPr>
              <a:t>zone_tier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099815"/>
            <a:ext cx="12801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099815"/>
            <a:ext cx="1280160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JetBrains Mono"/>
              </a:rPr>
              <a:t>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99815"/>
            <a:ext cx="12801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099815"/>
            <a:ext cx="1280160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JetBrains Mono"/>
              </a:rPr>
              <a:t>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71416"/>
            <a:ext cx="12801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71416"/>
            <a:ext cx="1280160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JetBrains Mono"/>
              </a:rPr>
              <a:t>distance_km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471416"/>
            <a:ext cx="128016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471416"/>
            <a:ext cx="1280160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JetBrains Mono"/>
              </a:rPr>
              <a:t>pickup→drop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01368" y="3291839"/>
            <a:ext cx="649224" cy="0"/>
          </a:xfrm>
          <a:prstGeom prst="line">
            <a:avLst/>
          </a:prstGeom>
          <a:ln w="22860">
            <a:solidFill>
              <a:srgbClr val="8C1515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3767328" y="3291839"/>
            <a:ext cx="603504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801368" y="4663440"/>
            <a:ext cx="2112264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767328" y="3291839"/>
            <a:ext cx="146304" cy="1371601"/>
          </a:xfrm>
          <a:prstGeom prst="line">
            <a:avLst/>
          </a:prstGeom>
          <a:ln w="15240">
            <a:solidFill>
              <a:srgbClr val="1A1A1A"/>
            </a:solidFill>
            <a:prstDash val="dash"/>
            <a:tailEnd type="triangl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828800" y="2834639"/>
            <a:ext cx="1371600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1">
                <a:solidFill>
                  <a:srgbClr val="8C1515"/>
                </a:solidFill>
                <a:latin typeface="Avenir Next"/>
              </a:rPr>
              <a:t>zone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97679"/>
            <a:ext cx="1920240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distance scales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1867" y="2194560"/>
            <a:ext cx="4026907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4747" y="2377440"/>
            <a:ext cx="3661147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ATOMIC ROWS · 1 ROW = 1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4747" y="2788920"/>
            <a:ext cx="732229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4747" y="2788920"/>
            <a:ext cx="732229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JetBrains Mono"/>
              </a:rPr>
              <a:t>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6976" y="2788920"/>
            <a:ext cx="732229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6976" y="2788920"/>
            <a:ext cx="732229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JetBrains Mono"/>
              </a:rPr>
              <a:t>zone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9206" y="2788920"/>
            <a:ext cx="732229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9206" y="2788920"/>
            <a:ext cx="732229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JetBrains Mono"/>
              </a:rPr>
              <a:t>algo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1436" y="2788920"/>
            <a:ext cx="732229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1436" y="2788920"/>
            <a:ext cx="732229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JetBrains Mono"/>
              </a:rPr>
              <a:t>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73665" y="2788920"/>
            <a:ext cx="732229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3665" y="2788920"/>
            <a:ext cx="732229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JetBrains Mono"/>
              </a:rPr>
              <a:t>p→d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4747" y="3063239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4747" y="3063239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6976" y="3063239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6976" y="3063239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ctr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9206" y="3063239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9206" y="3063239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new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41436" y="3063239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1436" y="3063239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73665" y="3063239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73665" y="3063239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44747" y="3319272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4747" y="3319272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6976" y="3319272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6976" y="3319272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per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9206" y="3319272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09206" y="3319272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new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41436" y="3319272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1436" y="3319272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73665" y="3319272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73665" y="3319272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4747" y="3575303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44747" y="3575303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6976" y="3575303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6976" y="3575303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mid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9206" y="3575303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09206" y="3575303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old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41436" y="3575303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41436" y="3575303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73665" y="3575303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73665" y="3575303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28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44747" y="3831335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44747" y="3831335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76976" y="3831335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76976" y="3831335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ctr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09206" y="3831335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09206" y="3831335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new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41436" y="3831335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1436" y="3831335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73665" y="3831335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73665" y="3831335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44747" y="4087368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44747" y="4087368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6976" y="4087368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76976" y="4087368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per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09206" y="4087368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09206" y="4087368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old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41436" y="4087368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1436" y="4087368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73665" y="4087368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73665" y="4087368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38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44747" y="4343400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44747" y="4343400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76976" y="4343400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76976" y="4343400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per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09206" y="4343400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09206" y="4343400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new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1436" y="4343400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41436" y="4343400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773665" y="4343400"/>
            <a:ext cx="732229" cy="25603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73665" y="4343400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44747" y="4599431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44747" y="4599431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07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76976" y="4599431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76976" y="4599431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mid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309206" y="4599431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09206" y="4599431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new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1436" y="4599431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41436" y="4599431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73665" y="4599431"/>
            <a:ext cx="732229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773665" y="4599431"/>
            <a:ext cx="732229" cy="25603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JetBrains Mono"/>
              </a:rPr>
              <a:t>19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44747" y="5120640"/>
            <a:ext cx="3661147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… 1000 rows total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463040" y="5760720"/>
            <a:ext cx="926561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63040" y="5760720"/>
            <a:ext cx="926561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Aggregation lives downstream. Bar totals equal pie totals equal line totals.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Avenir Next"/>
              </a:rPr>
              <a:t>Phase 3 — one table, </a:t>
            </a:r>
            <a:r>
              <a:rPr sz="3200" b="1" i="0">
                <a:solidFill>
                  <a:srgbClr val="8C1515"/>
                </a:solidFill>
                <a:latin typeface="Avenir Next"/>
              </a:rPr>
              <a:t>many views</a:t>
            </a:r>
            <a:r>
              <a:rPr sz="32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Deterministic SQL projection yields 10–30+ coherent tasks per Master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69767" y="2011680"/>
            <a:ext cx="5852160" cy="548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A1A1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011680"/>
            <a:ext cx="5852160" cy="5486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JetBrains Mono"/>
              </a:rPr>
              <a:t>Master  M  ·  SwiftEats  ·  1000 atomic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B6B6B"/>
                </a:solidFill>
                <a:latin typeface="Avenir Next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37560"/>
            <a:ext cx="3576218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302757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BAR · AVG TIME BY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02757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Avg time by 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434840"/>
            <a:ext cx="3027578" cy="1143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C1515"/>
                </a:solidFill>
                <a:latin typeface="JetBrains Mono"/>
              </a:rPr>
              <a:t>SELECT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algorithm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AVG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(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p2d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)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18888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FROM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GROUP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BY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algorithm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3337560"/>
            <a:ext cx="3576218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3520440"/>
            <a:ext cx="302757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HEATMAP · ACCEPT RATE × ZONE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840480"/>
            <a:ext cx="302757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Accept rate × zone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2058" y="4434840"/>
            <a:ext cx="3027578" cy="1143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98" y="4526280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C1515"/>
                </a:solidFill>
                <a:latin typeface="JetBrains Mono"/>
              </a:rPr>
              <a:t>SELECT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zone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algo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AVG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(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accept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)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4818888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FROM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GROUP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BY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zone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algo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337560"/>
            <a:ext cx="3576218" cy="2423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6876" y="3520440"/>
            <a:ext cx="302757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FUNNEL · STAGE ×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840480"/>
            <a:ext cx="3027578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Avenir Next"/>
              </a:rPr>
              <a:t>Stage × algorithm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6876" y="4434840"/>
            <a:ext cx="3027578" cy="1143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8316" y="4526280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C1515"/>
                </a:solidFill>
                <a:latin typeface="JetBrains Mono"/>
              </a:rPr>
              <a:t>SELECT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stage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COUNT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(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*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)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8316" y="4818888"/>
            <a:ext cx="2844698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FROM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M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GROUP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1" i="0">
                <a:solidFill>
                  <a:srgbClr val="8C1515"/>
                </a:solidFill>
                <a:latin typeface="JetBrains Mono"/>
              </a:rPr>
              <a:t>BY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algo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,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stage</a:t>
            </a:r>
            <a:r>
              <a:rPr sz="1100" b="0" i="0">
                <a:solidFill>
                  <a:srgbClr val="1A1A1A"/>
                </a:solidFill>
                <a:latin typeface="JetBrains Mono"/>
              </a:rPr>
              <a:t>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5943600"/>
            <a:ext cx="9265615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943600"/>
            <a:ext cx="9265615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Same M, three views. Arithmetic consistency holds by construction.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Avenir Next"/>
              </a:rPr>
              <a:t>A question is a typed </a:t>
            </a:r>
            <a:r>
              <a:rPr sz="3000" b="1" i="0">
                <a:solidFill>
                  <a:srgbClr val="8C1515"/>
                </a:solidFill>
                <a:latin typeface="Avenir Next"/>
              </a:rPr>
              <a:t>operator pipeline</a:t>
            </a:r>
            <a:r>
              <a:rPr sz="30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Difficulty equals the number of operators. No LLM is involved.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94560"/>
            <a:ext cx="10454335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77440"/>
            <a:ext cx="9905695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Q · </a:t>
            </a:r>
            <a:r>
              <a:rPr sz="1100" b="1" i="1">
                <a:solidFill>
                  <a:srgbClr val="6B6B6B"/>
                </a:solidFill>
                <a:latin typeface="Avenir Next"/>
              </a:rPr>
              <a:t>"Which zone tier has the highest delivery time under the new algorithm?"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88920"/>
            <a:ext cx="9905695" cy="141731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926080"/>
            <a:ext cx="9539935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JetBrains Mono"/>
              </a:rPr>
              <a:t>M  →  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Filter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(algorithm='new')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82112"/>
            <a:ext cx="9539935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JetBrains Mono"/>
              </a:rPr>
              <a:t>   →  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GroupBy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(zone_tier, 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AVG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(pickup_to_dropoff_min))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38144"/>
            <a:ext cx="9539935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JetBrains Mono"/>
              </a:rPr>
              <a:t>   →  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Sort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(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desc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94176"/>
            <a:ext cx="9539935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JetBrains Mono"/>
              </a:rPr>
              <a:t>   →  </a:t>
            </a:r>
            <a:r>
              <a:rPr sz="1400" b="1" i="0">
                <a:solidFill>
                  <a:srgbClr val="8C1515"/>
                </a:solidFill>
                <a:latin typeface="JetBrains Mono"/>
              </a:rPr>
              <a:t>ArgMax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950208"/>
            <a:ext cx="9539935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JetBrains Mono"/>
              </a:rPr>
              <a:t>   →  </a:t>
            </a:r>
            <a:r>
              <a:rPr sz="1400" b="0" i="0">
                <a:solidFill>
                  <a:srgbClr val="2E7D4F"/>
                </a:solidFill>
                <a:latin typeface="JetBrains Mono"/>
              </a:rPr>
              <a:t>"peripheral"</a:t>
            </a:r>
            <a:r>
              <a:rPr sz="1400" b="0" i="0">
                <a:solidFill>
                  <a:srgbClr val="1A1A1A"/>
                </a:solidFill>
                <a:latin typeface="JetBrains Mono"/>
              </a:rPr>
              <a:t>     </a:t>
            </a:r>
            <a:r>
              <a:rPr sz="1200" b="0" i="1">
                <a:solidFill>
                  <a:srgbClr val="6B6B6B"/>
                </a:solidFill>
                <a:latin typeface="JetBrains Mono"/>
              </a:rPr>
              <a:t># 5 ops = Medium difficulty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3576218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3576218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8C1515"/>
                </a:solidFill>
                <a:latin typeface="JetBrains Mono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23559"/>
            <a:ext cx="32104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typed operators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97879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Set · Scalar · Combinator · Bridge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4663440"/>
            <a:ext cx="3576218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7738" y="4846320"/>
            <a:ext cx="3576218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8C1515"/>
                </a:solidFill>
                <a:latin typeface="JetBrains Mon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5623559"/>
            <a:ext cx="32104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chart families · 16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5897879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Comparison, Trend, Distribution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2556" y="4663440"/>
            <a:ext cx="3576218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2556" y="4846320"/>
            <a:ext cx="3576218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8C1515"/>
                </a:solidFill>
                <a:latin typeface="JetBrains Mon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5623559"/>
            <a:ext cx="32104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LLM calls in 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5436" y="5897879"/>
            <a:ext cx="3210458" cy="320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deterministic, seed-reproducible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C2 · </a:t>
            </a:r>
            <a:r>
              <a:rPr sz="5000" b="1" i="0">
                <a:solidFill>
                  <a:srgbClr val="8C1515"/>
                </a:solidFill>
                <a:latin typeface="Avenir Next"/>
              </a:rPr>
              <a:t>Active</a:t>
            </a:r>
            <a:r>
              <a:rPr sz="5000" b="1" i="0">
                <a:solidFill>
                  <a:srgbClr val="1A1A1A"/>
                </a:solidFill>
                <a:latin typeface="Avenir Next"/>
              </a:rPr>
              <a:t> Chart Reasoning.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1920"/>
            <a:ext cx="121916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6B6B6B"/>
                </a:solidFill>
                <a:latin typeface="Avenir Next"/>
              </a:rPr>
              <a:t>Four moves. Two costly actions. One bbox-grounded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Four moves: Read, Reveal, Reconcile,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Debunk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Each move names a specific question the agent must answer about the chart.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5410047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" y="2354579"/>
            <a:ext cx="502920" cy="50292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" y="2354579"/>
            <a:ext cx="502920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77439"/>
            <a:ext cx="403844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816352"/>
            <a:ext cx="4038447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what does the metric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4861407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Identify the two timestamps the metric spans. Identify which orders are in the denominator.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410047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0187" y="2354579"/>
            <a:ext cx="502920" cy="50292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2354579"/>
            <a:ext cx="502920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JetBrain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447" y="2377439"/>
            <a:ext cx="403844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Reveal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447" y="2816352"/>
            <a:ext cx="4038447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what dimension is missing?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337560"/>
            <a:ext cx="4861407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Stratify by zone tier. Check whether the new algorithm stopped accepting peripheral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0559"/>
            <a:ext cx="5410047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" y="4732019"/>
            <a:ext cx="502920" cy="50292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" y="4732019"/>
            <a:ext cx="502920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403844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Reconcile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93792"/>
            <a:ext cx="4038447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how can both charts be true?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4861407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Delivery time fell and refunds rose. Find the funnel structure under which both can 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480559"/>
            <a:ext cx="5410047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0187" y="4732019"/>
            <a:ext cx="502920" cy="502920"/>
          </a:xfrm>
          <a:prstGeom prst="ellipse">
            <a:avLst/>
          </a:prstGeom>
          <a:solidFill>
            <a:srgbClr val="F1F1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0187" y="4732019"/>
            <a:ext cx="502920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JetBrains Mon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447" y="4754879"/>
            <a:ext cx="4038447" cy="4114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Avenir Next"/>
              </a:rPr>
              <a:t>Debunk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447" y="5193792"/>
            <a:ext cx="4038447" cy="29260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Avenir Next"/>
              </a:rPr>
              <a:t>does the metric survive a fair yardstick?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5715000"/>
            <a:ext cx="4861407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Widen the window to click-to-door. Include every cancelled and timed-out order. Recompute.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Avenir Next"/>
              </a:rPr>
              <a:t>Five actions. </a:t>
            </a:r>
            <a:r>
              <a:rPr sz="3200" b="1" i="0">
                <a:solidFill>
                  <a:srgbClr val="8C1515"/>
                </a:solidFill>
                <a:latin typeface="Avenir Next"/>
              </a:rPr>
              <a:t>Two cost budget</a:t>
            </a:r>
            <a:r>
              <a:rPr sz="32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The budget forces strategy. Every answer must point to a bbox.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11185855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92024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2331720"/>
            <a:ext cx="292608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233172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331720"/>
            <a:ext cx="3642055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RETURNS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697479"/>
            <a:ext cx="10454335" cy="0"/>
          </a:xfrm>
          <a:prstGeom prst="line">
            <a:avLst/>
          </a:prstGeom>
          <a:ln w="10160">
            <a:solidFill>
              <a:srgbClr val="E6E6E6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868680" y="2834639"/>
            <a:ext cx="192024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C1515"/>
                </a:solidFill>
                <a:latin typeface="JetBrains Mono"/>
              </a:rPr>
              <a:t>request_view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834639"/>
            <a:ext cx="292608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venir Next"/>
              </a:rPr>
              <a:t>Pull a new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39"/>
            <a:ext cx="173736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C1515"/>
                </a:solidFill>
                <a:latin typeface="JetBrains Mono"/>
              </a:rPr>
              <a:t>−1 Bᵥ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834639"/>
            <a:ext cx="3642055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PNG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18687"/>
            <a:ext cx="192024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C1515"/>
                </a:solidFill>
                <a:latin typeface="JetBrains Mono"/>
              </a:rPr>
              <a:t>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218687"/>
            <a:ext cx="292608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venir Next"/>
              </a:rPr>
              <a:t>Inspect element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3218687"/>
            <a:ext cx="173736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C1515"/>
                </a:solidFill>
                <a:latin typeface="JetBrains Mono"/>
              </a:rPr>
              <a:t>−1 Bₚ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218687"/>
            <a:ext cx="3642055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bbox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02735"/>
            <a:ext cx="192024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commit_belief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3602735"/>
            <a:ext cx="292608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venir Next"/>
              </a:rPr>
              <a:t>Update working theory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3602735"/>
            <a:ext cx="173736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602735"/>
            <a:ext cx="3642055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confirmed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86783"/>
            <a:ext cx="192024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3986783"/>
            <a:ext cx="292608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venir Next"/>
              </a:rPr>
              <a:t>Submit answer + bbox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3986783"/>
            <a:ext cx="173736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986783"/>
            <a:ext cx="3642055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70831"/>
            <a:ext cx="192024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JetBrains Mono"/>
              </a:rPr>
              <a:t>terminate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4370831"/>
            <a:ext cx="292608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venir Next"/>
              </a:rPr>
              <a:t>Trigger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370831"/>
            <a:ext cx="1737360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370831"/>
            <a:ext cx="3642055" cy="329184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Avenir Next"/>
              </a:rPr>
              <a:t>final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66360"/>
            <a:ext cx="5410047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3095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VISUAL-ONLY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69280"/>
            <a:ext cx="5044287" cy="5943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request_view returns PNG, never CSV.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The protocol cannot degenerate into SQL planning.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5166360"/>
            <a:ext cx="5410047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1607" y="5330952"/>
            <a:ext cx="5044287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BBOX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5669280"/>
            <a:ext cx="5044287" cy="5943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Every answer cites a bounding box, cross-chart.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Grounding is mandatory, not decorative.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2296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Read — what does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"18 min"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measure?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Inspect the time window and the denominator on the headline chart.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6487796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TIME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60320"/>
            <a:ext cx="1484789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484789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click → assign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2029" y="2560320"/>
            <a:ext cx="1484789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2029" y="2560320"/>
            <a:ext cx="1484789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prep + wait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818" y="2560320"/>
            <a:ext cx="2969578" cy="384048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6818" y="2560320"/>
            <a:ext cx="2969578" cy="384048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pickup → drop  ·  the 18 min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80944"/>
            <a:ext cx="73152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Avenir Next"/>
              </a:rPr>
              <a:t>t₀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6269" y="2980944"/>
            <a:ext cx="73152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Avenir Next"/>
              </a:rPr>
              <a:t>t₁ 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058" y="2980944"/>
            <a:ext cx="73152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Avenir Next"/>
              </a:rPr>
              <a:t>t₂ pickup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5847" y="2980944"/>
            <a:ext cx="73152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Avenir Next"/>
              </a:rPr>
              <a:t>t₃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5939156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DENOMINATOR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77639"/>
            <a:ext cx="5939156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3385318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3385318" cy="43891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570 delivered  ·  included in 18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2558" y="3977639"/>
            <a:ext cx="2553837" cy="43891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430 failed  ·  excluded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53128"/>
            <a:ext cx="5939156" cy="21945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6B6B"/>
                </a:solidFill>
                <a:latin typeface="Avenir Next"/>
              </a:rPr>
              <a:t>1000 orders requested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6476" y="1965960"/>
            <a:ext cx="4332299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0796" y="2148840"/>
            <a:ext cx="37836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AFTER 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0796" y="2514600"/>
            <a:ext cx="3783659" cy="7772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Two narrow choices sit inside "18 min":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0796" y="3474720"/>
            <a:ext cx="3783659" cy="5029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0796" y="3474720"/>
            <a:ext cx="3783659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pickup-to-drop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0796" y="4114800"/>
            <a:ext cx="3783659" cy="5029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0796" y="4114800"/>
            <a:ext cx="3783659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venir Next"/>
              </a:rPr>
              <a:t>delivered orders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852160"/>
            <a:ext cx="11185855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h₁ · 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not yet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h₂ · 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not yet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h₃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h₄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2296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Reveal — where do the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excluded orders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Stratify acceptance by zone tier and algorithm.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6487796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ACCEPTANCE MAP · OLD VS NEW DISPATCHER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9748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269748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1640" y="269748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269748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297180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297180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1640" y="297180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297180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24612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324612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91640" y="324612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5960" y="324612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52044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352044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91640" y="352044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5960" y="3520440"/>
            <a:ext cx="274320" cy="274320"/>
          </a:xfrm>
          <a:prstGeom prst="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49624"/>
            <a:ext cx="128016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E7D4F"/>
                </a:solidFill>
                <a:latin typeface="Avenir Next"/>
              </a:rPr>
              <a:t>OLD  ·  uniform 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2498" y="3108960"/>
            <a:ext cx="548640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B6B6B"/>
                </a:solidFill>
                <a:latin typeface="Avenir Next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3356" y="269748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7676" y="269748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1996" y="269748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76316" y="269748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3356" y="297180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7676" y="297180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1996" y="297180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76316" y="297180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3356" y="324612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7676" y="324612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01996" y="3246120"/>
            <a:ext cx="274320" cy="2743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76316" y="324612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53356" y="352044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27676" y="352044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01996" y="352044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76316" y="3520440"/>
            <a:ext cx="274320" cy="27432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1916" y="3849624"/>
            <a:ext cx="128016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NEW  ·  periphery drops to 41%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56476" y="1965960"/>
            <a:ext cx="4332299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0796" y="2148840"/>
            <a:ext cx="37836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AFTER REVEAL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0796" y="2514600"/>
            <a:ext cx="3783659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Downtown is steady;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the periphery </a:t>
            </a:r>
            <a:r>
              <a:rPr sz="1500" b="1" i="0">
                <a:solidFill>
                  <a:srgbClr val="8C1515"/>
                </a:solidFill>
                <a:latin typeface="Avenir Next"/>
              </a:rPr>
              <a:t>collapses</a:t>
            </a:r>
            <a:r>
              <a:rPr sz="15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0796" y="3657600"/>
            <a:ext cx="3783659" cy="502920"/>
          </a:xfrm>
          <a:prstGeom prst="round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0796" y="3657600"/>
            <a:ext cx="3783659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E7D4F"/>
                </a:solidFill>
                <a:latin typeface="Avenir Next"/>
              </a:rPr>
              <a:t>Old · periphery  </a:t>
            </a:r>
            <a:r>
              <a:rPr sz="1800" b="1" i="0">
                <a:solidFill>
                  <a:srgbClr val="2E7D4F"/>
                </a:solidFill>
                <a:latin typeface="Avenir Next"/>
              </a:rPr>
              <a:t>82%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0796" y="4297679"/>
            <a:ext cx="3783659" cy="502920"/>
          </a:xfrm>
          <a:prstGeom prst="roundRect">
            <a:avLst/>
          </a:prstGeom>
          <a:solidFill>
            <a:srgbClr val="F8EC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0796" y="4297679"/>
            <a:ext cx="3783659" cy="5029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B23A3A"/>
                </a:solidFill>
                <a:latin typeface="Avenir Next"/>
              </a:rPr>
              <a:t>New · periphery  </a:t>
            </a:r>
            <a:r>
              <a:rPr sz="1800" b="1" i="0">
                <a:solidFill>
                  <a:srgbClr val="B23A3A"/>
                </a:solidFill>
                <a:latin typeface="Avenir Next"/>
              </a:rPr>
              <a:t>41%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52160"/>
            <a:ext cx="11185855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h₁ · 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not yet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h₂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h₃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h₄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2296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Reconcile — how can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both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charts be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Inspect the funnel: requested → assigned → picked up → delivered.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6487796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FUNNEL · OLD VS NEW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5338" y="2651760"/>
            <a:ext cx="91440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requested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5338" y="3035808"/>
            <a:ext cx="91440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assigned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5338" y="3419856"/>
            <a:ext cx="91440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picked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5338" y="3803904"/>
            <a:ext cx="91440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338" y="4224528"/>
            <a:ext cx="91440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651760"/>
            <a:ext cx="109728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9731" y="3035808"/>
            <a:ext cx="1009497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920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7163" y="3419856"/>
            <a:ext cx="954633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870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3622" y="3803904"/>
            <a:ext cx="921715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4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840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6697" y="4224528"/>
            <a:ext cx="175564" cy="34747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26864"/>
            <a:ext cx="1463040" cy="21945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160 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9472"/>
            <a:ext cx="1280160" cy="21945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Avenir Next"/>
              </a:rPr>
              <a:t>Old · 84%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4630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B6B6B"/>
                </a:solidFill>
                <a:latin typeface="Avenir Next"/>
              </a:rPr>
              <a:t>success </a:t>
            </a:r>
            <a:r>
              <a:rPr sz="1100" b="1" i="0">
                <a:solidFill>
                  <a:srgbClr val="2E7D4F"/>
                </a:solidFill>
                <a:latin typeface="Avenir Next"/>
              </a:rPr>
              <a:t>84%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0516" y="2651760"/>
            <a:ext cx="109728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0516" y="2651760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8999" y="3035808"/>
            <a:ext cx="680313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0516" y="3035808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620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15458" y="3419856"/>
            <a:ext cx="6473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0516" y="3419856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590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6431" y="3803904"/>
            <a:ext cx="625449" cy="347472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0516" y="3803904"/>
            <a:ext cx="1097280" cy="347472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"/>
              </a:rPr>
              <a:t>570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03240" y="4224528"/>
            <a:ext cx="471830" cy="347472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7636" y="4626864"/>
            <a:ext cx="1463040" cy="21945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1">
                <a:solidFill>
                  <a:srgbClr val="6B6B6B"/>
                </a:solidFill>
                <a:latin typeface="Avenir Next"/>
              </a:rPr>
              <a:t>430 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9076" y="4919472"/>
            <a:ext cx="1280160" cy="219456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C1515"/>
                </a:solidFill>
                <a:latin typeface="Avenir Next"/>
              </a:rPr>
              <a:t>New · 57% 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7636" y="5138928"/>
            <a:ext cx="14630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B6B6B"/>
                </a:solidFill>
                <a:latin typeface="Avenir Next"/>
              </a:rPr>
              <a:t>success </a:t>
            </a:r>
            <a:r>
              <a:rPr sz="1100" b="1" i="0">
                <a:solidFill>
                  <a:srgbClr val="8C1515"/>
                </a:solidFill>
                <a:latin typeface="Avenir Next"/>
              </a:rPr>
              <a:t>57%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6476" y="1965960"/>
            <a:ext cx="4332299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0796" y="2148840"/>
            <a:ext cx="37836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AFTER RECONCILE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0796" y="2514600"/>
            <a:ext cx="3783659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Both stories hold on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C1515"/>
                </a:solidFill>
                <a:latin typeface="Avenir Next"/>
              </a:rPr>
              <a:t>different denominators</a:t>
            </a:r>
            <a:r>
              <a:rPr sz="15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0796" y="3611880"/>
            <a:ext cx="3783659" cy="6400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0796" y="3611880"/>
            <a:ext cx="3783659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8C1515"/>
                </a:solidFill>
                <a:latin typeface="JetBrains Mono"/>
              </a:rPr>
              <a:t>84%  →  57%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0796" y="4389120"/>
            <a:ext cx="3783659" cy="5943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B6B6B"/>
                </a:solidFill>
                <a:latin typeface="Avenir Next"/>
              </a:rPr>
              <a:t>Delivered orders really are faster. They are also a different population from the orders that were requested.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60"/>
            <a:ext cx="11185855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h₁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h₂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h₃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h₄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82296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Debunk — does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"18 min"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survive a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fair yardstick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Widen the window to click-to-door and include every requested order.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6487796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939156" cy="256032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HEADLINE  VS  HONEST YARDSTICK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60320"/>
            <a:ext cx="2832418" cy="1965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558098" cy="237744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HEADLINE · pickup → drop (min)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154680"/>
            <a:ext cx="411480" cy="960120"/>
          </a:xfrm>
          <a:prstGeom prst="rect">
            <a:avLst/>
          </a:prstGeom>
          <a:solidFill>
            <a:srgbClr val="9B9B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777240" cy="292608"/>
          </a:xfrm>
          <a:prstGeom prst="rect">
            <a:avLst/>
          </a:prstGeom>
          <a:noFill/>
          <a:effectLst/>
        </p:spPr>
        <p:txBody>
          <a:bodyPr wrap="square" anchor="b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6B6B6B"/>
                </a:solidFill>
                <a:latin typeface="JetBrains Mono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5258" y="3547872"/>
            <a:ext cx="411480" cy="5669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2378" y="3547872"/>
            <a:ext cx="777240" cy="292608"/>
          </a:xfrm>
          <a:prstGeom prst="rect">
            <a:avLst/>
          </a:prstGeom>
          <a:noFill/>
          <a:effectLst/>
        </p:spPr>
        <p:txBody>
          <a:bodyPr wrap="square" anchor="b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E7D4F"/>
                </a:solidFill>
                <a:latin typeface="JetBrains Mono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9663"/>
            <a:ext cx="7772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venir Next"/>
              </a:rPr>
              <a:t>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2378" y="4169663"/>
            <a:ext cx="7772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venir Next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2558098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Avenir Next"/>
              </a:rPr>
              <a:t>−42% (looks good)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3978" y="2560320"/>
            <a:ext cx="2832418" cy="1965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1138" y="2651760"/>
            <a:ext cx="2558098" cy="237744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Avenir Next"/>
              </a:rPr>
              <a:t>HONEST · click → door on-time 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6898" y="3063240"/>
            <a:ext cx="411480" cy="105156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4018" y="3063240"/>
            <a:ext cx="777240" cy="292608"/>
          </a:xfrm>
          <a:prstGeom prst="rect">
            <a:avLst/>
          </a:prstGeom>
          <a:noFill/>
          <a:effectLst/>
        </p:spPr>
        <p:txBody>
          <a:bodyPr wrap="square" anchor="b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7D4F"/>
                </a:solidFill>
                <a:latin typeface="JetBrains Mono"/>
              </a:rPr>
              <a:t>73%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1996" y="3401568"/>
            <a:ext cx="411480" cy="713232"/>
          </a:xfrm>
          <a:prstGeom prst="rect">
            <a:avLst/>
          </a:prstGeom>
          <a:solidFill>
            <a:srgbClr val="8C151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9116" y="3401568"/>
            <a:ext cx="777240" cy="292608"/>
          </a:xfrm>
          <a:prstGeom prst="rect">
            <a:avLst/>
          </a:prstGeom>
          <a:noFill/>
          <a:effectLst/>
        </p:spPr>
        <p:txBody>
          <a:bodyPr wrap="square" anchor="b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8C1515"/>
                </a:solidFill>
                <a:latin typeface="JetBrains Mono"/>
              </a:rPr>
              <a:t>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4018" y="4169663"/>
            <a:ext cx="7772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venir Next"/>
              </a:rPr>
              <a:t>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9116" y="4169663"/>
            <a:ext cx="777240" cy="201168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venir Next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1138" y="4251960"/>
            <a:ext cx="2558098" cy="2286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1515"/>
                </a:solidFill>
                <a:latin typeface="Avenir Next"/>
              </a:rPr>
              <a:t>−24 pt (gets worse)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6476" y="1965960"/>
            <a:ext cx="4332299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0796" y="2148840"/>
            <a:ext cx="3783659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6B6B"/>
                </a:solidFill>
                <a:latin typeface="Avenir Next"/>
              </a:rPr>
              <a:t>AFTER DEBUNK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0796" y="2514600"/>
            <a:ext cx="3783659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On the fair yardstick,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the headline </a:t>
            </a:r>
            <a:r>
              <a:rPr sz="1500" b="1" i="0">
                <a:solidFill>
                  <a:srgbClr val="8C1515"/>
                </a:solidFill>
                <a:latin typeface="Avenir Next"/>
              </a:rPr>
              <a:t>reverses sign</a:t>
            </a:r>
            <a:r>
              <a:rPr sz="15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0796" y="3611880"/>
            <a:ext cx="3783659" cy="6400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0796" y="3611880"/>
            <a:ext cx="3783659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8C1515"/>
                </a:solidFill>
                <a:latin typeface="JetBrains Mono"/>
              </a:rPr>
              <a:t>73%  →  49%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83480"/>
            <a:ext cx="11185855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83480"/>
            <a:ext cx="10637215" cy="59436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venir Next"/>
              </a:rPr>
              <a:t>Result. </a:t>
            </a:r>
            <a:r>
              <a:rPr sz="1500" b="1" i="0">
                <a:solidFill>
                  <a:srgbClr val="1A1A1A"/>
                </a:solidFill>
                <a:latin typeface="JetBrains Mono"/>
              </a:rPr>
              <a:t>31 → 18</a:t>
            </a:r>
            <a:r>
              <a:rPr sz="1500" b="1" i="0">
                <a:solidFill>
                  <a:srgbClr val="1A1A1A"/>
                </a:solidFill>
                <a:latin typeface="Avenir Next"/>
              </a:rPr>
              <a:t> decomposes into </a:t>
            </a:r>
            <a:r>
              <a:rPr sz="1500" b="1" i="0">
                <a:solidFill>
                  <a:srgbClr val="8C1515"/>
                </a:solidFill>
                <a:latin typeface="Avenir Next"/>
              </a:rPr>
              <a:t>zone selection + denominator change + metric boundary</a:t>
            </a:r>
            <a:r>
              <a:rPr sz="15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JetBrains Mono"/>
              </a:rPr>
              <a:t>h₁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consistent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h₂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h₃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  <a:r>
              <a:rPr sz="1200" b="1" i="0">
                <a:solidFill>
                  <a:srgbClr val="6B6B6B"/>
                </a:solidFill>
                <a:latin typeface="JetBrains Mono"/>
              </a:rPr>
              <a:t>     </a:t>
            </a:r>
            <a:r>
              <a:rPr sz="1200" b="1" i="0">
                <a:solidFill>
                  <a:srgbClr val="1A1A1A"/>
                </a:solidFill>
                <a:latin typeface="JetBrains Mono"/>
              </a:rPr>
              <a:t>h₄ · </a:t>
            </a:r>
            <a:r>
              <a:rPr sz="1200" b="1" i="0">
                <a:solidFill>
                  <a:srgbClr val="8C1515"/>
                </a:solidFill>
                <a:latin typeface="JetBrains Mono"/>
              </a:rPr>
              <a:t>confirmed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Avenir Next"/>
              </a:rPr>
              <a:t>Three experiments separate </a:t>
            </a:r>
            <a:r>
              <a:rPr sz="2800" b="1" i="0">
                <a:solidFill>
                  <a:srgbClr val="8C1515"/>
                </a:solidFill>
                <a:latin typeface="Avenir Next"/>
              </a:rPr>
              <a:t>action</a:t>
            </a:r>
            <a:r>
              <a:rPr sz="2800" b="1" i="0">
                <a:solidFill>
                  <a:srgbClr val="1A1A1A"/>
                </a:solidFill>
                <a:latin typeface="Avenir Next"/>
              </a:rPr>
              <a:t> from perception.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Each isolates one axis of the protocol.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3576218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77439"/>
            <a:ext cx="3027578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EXP. A · ACTION NECESSITY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3027578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Does the action axis matter more than model scale?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027578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  <a:latin typeface="Avenir Next"/>
              </a:rPr>
              <a:t>Cross model axis with protocol axis (passive, random, planning).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3027578" cy="1005840"/>
          </a:xfrm>
          <a:prstGeom prst="round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27532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Avenir Next"/>
              </a:rPr>
              <a:t>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59"/>
            <a:ext cx="2753258" cy="7315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Action axis explains more variance than model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7738" y="2103120"/>
            <a:ext cx="3576218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2058" y="2377439"/>
            <a:ext cx="3027578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EXP. B · EVIDENCE PARETO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880360"/>
            <a:ext cx="3027578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How does accuracy scale with view budget?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3886200"/>
            <a:ext cx="3027578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  <a:latin typeface="Avenir Next"/>
              </a:rPr>
              <a:t>Sweep Bᵥ ∈ {2, 4, 8, 16, ∞} on Recovery and Resolution splits.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2058" y="4572000"/>
            <a:ext cx="3027578" cy="1005840"/>
          </a:xfrm>
          <a:prstGeom prst="round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9218" y="4663440"/>
            <a:ext cx="27532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Avenir Next"/>
              </a:rPr>
              <a:t>EXPECTED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9218" y="4937759"/>
            <a:ext cx="2753258" cy="7315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Frontier VLM at Bᵥ=16 stays below Oracle at Bᵥ=4.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556" y="2103120"/>
            <a:ext cx="3576218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6876" y="2377439"/>
            <a:ext cx="3027578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EXP. C · CHANNEL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2880360"/>
            <a:ext cx="3027578" cy="86868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Avenir Next"/>
              </a:rPr>
              <a:t>Does the agent need pixels or just SQL?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886200"/>
            <a:ext cx="3027578" cy="8229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  <a:latin typeface="Avenir Next"/>
              </a:rPr>
              <a:t>request_view returns PNG only, CSV only, or both.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6876" y="4572000"/>
            <a:ext cx="3027578" cy="1005840"/>
          </a:xfrm>
          <a:prstGeom prst="roundRect">
            <a:avLst/>
          </a:prstGeom>
          <a:solidFill>
            <a:srgbClr val="EAF4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4036" y="4663440"/>
            <a:ext cx="2753258" cy="2743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4F"/>
                </a:solidFill>
                <a:latin typeface="Avenir Next"/>
              </a:rPr>
              <a:t>EXPECTED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4036" y="4937759"/>
            <a:ext cx="2753258" cy="7315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venir Next"/>
              </a:rPr>
              <a:t>Pixel-only and CSV-only collapse to different failure modes.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5989320"/>
            <a:ext cx="926561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989320"/>
            <a:ext cx="9265615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Avenir Next"/>
              </a:rPr>
              <a:t>The hypothesis: the bottleneck is </a:t>
            </a:r>
            <a:r>
              <a:rPr sz="1300" b="1" i="0">
                <a:solidFill>
                  <a:srgbClr val="8C1515"/>
                </a:solidFill>
                <a:latin typeface="Avenir Next"/>
              </a:rPr>
              <a:t>exploration strategy</a:t>
            </a:r>
            <a:r>
              <a:rPr sz="1300" b="1" i="0">
                <a:solidFill>
                  <a:srgbClr val="1A1A1A"/>
                </a:solidFill>
                <a:latin typeface="Avenir Next"/>
              </a:rPr>
              <a:t>, not perception.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777240"/>
            <a:ext cx="11185855" cy="146304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Avenir Next"/>
              </a:rPr>
              <a:t>Summary.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85855" cy="45720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Avenir Next"/>
              </a:rPr>
              <a:t>From single-shot chart reading to active investigation of a hidden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06040"/>
            <a:ext cx="11185855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188720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770632"/>
            <a:ext cx="9448495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Atomic-grain Code-as-DGP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3172968"/>
            <a:ext cx="94484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An LLM writes Python over a typed SDK. One Master Table emits 10–30+ chart QA tasks through deterministic SQL projection, with cross-chart arithmetic consistent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11185855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1188720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187952"/>
            <a:ext cx="9448495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Active Chart Reasoning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590288"/>
            <a:ext cx="94484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Five actions, two with budget cost. Bbox grounding on every answer. Four named moves: Read, Reveal, Reconcile, Debunk.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85855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79400" dist="76200" dir="5400000" algn="ctr" rotWithShape="0">
              <a:srgbClr val="000000">
                <a:alpha val="11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188720" cy="2743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JetBrains Mono"/>
              </a:rPr>
              <a:t>C1 + 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605272"/>
            <a:ext cx="9448495" cy="36576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LDW-Gym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6007608"/>
            <a:ext cx="94484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Avenir Next"/>
              </a:rPr>
              <a:t>One pipeline emits data and protocol together. Private test sets regenerate on demand, structurally immune to contamination.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606040"/>
            <a:ext cx="12191695" cy="11887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Avenir Next"/>
              </a:rPr>
              <a:t>Charts are projections of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20440"/>
            <a:ext cx="12191695" cy="1188720"/>
          </a:xfrm>
          <a:prstGeom prst="rect">
            <a:avLst/>
          </a:prstGeom>
          <a:noFill/>
          <a:effectLst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8C1515"/>
                </a:solidFill>
                <a:latin typeface="Avenir Next"/>
              </a:rPr>
              <a:t>latent data world</a:t>
            </a:r>
            <a:r>
              <a:rPr sz="4400" b="1" i="0">
                <a:solidFill>
                  <a:srgbClr val="1A1A1A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91695" cy="502920"/>
          </a:xfrm>
          <a:prstGeom prst="rect">
            <a:avLst/>
          </a:prstGeom>
          <a:noFill/>
          <a:effectLst/>
        </p:spPr>
        <p:txBody>
          <a:bodyPr wrap="square" anchor="t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1">
                <a:solidFill>
                  <a:srgbClr val="6B6B6B"/>
                </a:solidFill>
                <a:latin typeface="Avenir Next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