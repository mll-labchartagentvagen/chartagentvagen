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9721E"/>
                </a:solidFill>
                <a:latin typeface="Calibri"/>
              </a:rPr>
              <a:t>RESEARCH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0" b="1" i="0">
                <a:solidFill>
                  <a:srgbClr val="0F3A5F"/>
                </a:solidFill>
                <a:latin typeface="Calibri"/>
              </a:rPr>
              <a:t>ChartAgent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F2537"/>
                </a:solidFill>
                <a:latin typeface="Calibri"/>
              </a:rPr>
              <a:t>Atomic-Grain Programmatic Data Synthesis</a:t>
            </a:r>
          </a:p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F2537"/>
                </a:solidFill>
                <a:latin typeface="Calibri"/>
              </a:rPr>
              <a:t>for Chart Understanding Benchmarks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60520"/>
            <a:ext cx="1463040" cy="36576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Operator Algebra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44805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Agentic Data Simulator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48056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Table Amortization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5F6E"/>
                </a:solidFill>
                <a:latin typeface="Calibri"/>
              </a:rPr>
              <a:t>One Master Table  →  10–30+ Coherent Multi-Chart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4A6"/>
                </a:solidFill>
                <a:latin typeface="Calibri"/>
              </a:rPr>
              <a:t>Deterministic · Type-Safe · Cross-Chart Consistent by 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Why existing chart QA benchmarks 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Three structural deficits shared by ChartQA, PlotQA, ChartBench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9721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Shallow data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Public datasets store only the 5-row aggregate shown in the chart.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40480"/>
            <a:ext cx="2971800" cy="30861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87705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8588" y="387705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49090"/>
            <a:ext cx="2971800" cy="3086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8566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537"/>
                </a:solidFill>
                <a:latin typeface="Calibri"/>
              </a:rPr>
              <a:t>North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8588" y="418566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537"/>
                </a:solidFill>
                <a:latin typeface="Calibri"/>
              </a:rPr>
              <a:t>$4.2M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457700"/>
            <a:ext cx="2971800" cy="30861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49427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537"/>
                </a:solidFill>
                <a:latin typeface="Calibri"/>
              </a:rPr>
              <a:t>South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8588" y="449427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537"/>
                </a:solidFill>
                <a:latin typeface="Calibri"/>
              </a:rPr>
              <a:t>$3.1M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66310"/>
            <a:ext cx="2971800" cy="3086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288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537"/>
                </a:solidFill>
                <a:latin typeface="Calibri"/>
              </a:rPr>
              <a:t>East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8588" y="4802886"/>
            <a:ext cx="130302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537"/>
                </a:solidFill>
                <a:latin typeface="Calibri"/>
              </a:rPr>
              <a:t>$2.8M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only aggregates — no atomic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3154680" cy="594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No drill-down, no provenance, no long-tail statistics.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50876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67335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9721E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2860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Arithmetic hallucinations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834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LLM-written JSON introduces numbers that don't add 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023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537"/>
                </a:solidFill>
                <a:latin typeface="Consolas"/>
              </a:rPr>
              <a:t>10  +  15  =  </a:t>
            </a:r>
            <a:r>
              <a:rPr sz="2600" b="1" i="0">
                <a:solidFill>
                  <a:srgbClr val="D9721E"/>
                </a:solidFill>
                <a:latin typeface="Consolas"/>
              </a:rPr>
              <a:t>30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52260.0" y="4206240"/>
            <a:ext cx="548640.0" cy="365760"/>
          </a:xfrm>
          <a:prstGeom prst="line">
            <a:avLst/>
          </a:prstGeom>
          <a:ln w="25400">
            <a:solidFill>
              <a:srgbClr val="D97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17720" y="4846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LLM-produced numbers silently break arithmetic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5303520"/>
            <a:ext cx="3154680" cy="594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53949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Validation catches syntax — not semantic impossibility.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150876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67335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9721E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2860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No cross-chart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34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A pie and a bar from the same domain disagree on totals.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794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537"/>
                </a:solidFill>
                <a:latin typeface="Calibri"/>
              </a:rPr>
              <a:t>Pie  →  $10.0M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4114800"/>
            <a:ext cx="731520" cy="731520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3794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537"/>
                </a:solidFill>
                <a:latin typeface="Calibri"/>
              </a:rPr>
              <a:t>Bar  →  $11.4M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87000" y="4526279"/>
            <a:ext cx="201168" cy="32004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43032" y="4343399"/>
            <a:ext cx="201168" cy="50292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99064" y="4206239"/>
            <a:ext cx="201168" cy="64008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89204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1">
                <a:solidFill>
                  <a:srgbClr val="D9721E"/>
                </a:solidFill>
                <a:latin typeface="Calibri"/>
              </a:rPr>
              <a:t>same data  ·  totals disagree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5303520"/>
            <a:ext cx="3154680" cy="594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3949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Multi-chart reasoning becomes impossible to evaluate.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Comparison with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Every prior benchmark fails ≥ 4 of the 7 axes we care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926080" cy="54864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00200"/>
            <a:ext cx="1600200" cy="54864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6002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ChartQA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00200"/>
            <a:ext cx="1600200" cy="54864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6002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PlotQA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600200"/>
            <a:ext cx="1783080" cy="54864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60020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ChartBench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600200"/>
            <a:ext cx="3063240" cy="548640"/>
          </a:xfrm>
          <a:prstGeom prst="rect">
            <a:avLst/>
          </a:prstGeom>
          <a:solidFill>
            <a:srgbClr val="08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60020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48840"/>
            <a:ext cx="2926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1488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Data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14884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148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Web-crawled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4884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2148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Templates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148840"/>
            <a:ext cx="1783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214884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14884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21488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LLM-authored SDK programs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9748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6974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Data depth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69748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26974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Aggregates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69748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26974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Aggregates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697480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6288" y="26974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Aggregates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69748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5088" y="26974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Atomic-grain fact tables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46120"/>
            <a:ext cx="2926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3246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Distribution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324612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4448" y="324612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None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324612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0368" y="324612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Uniform/Normal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246120"/>
            <a:ext cx="1783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76288" y="324612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Semi-fixed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24612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5088" y="32461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Mixtures / copulas / conditional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947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3794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Cross-chart consistency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379476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379476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79476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30368" y="379476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3794760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76288" y="379476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379476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05088" y="37947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✓  (shared Master Table)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343400"/>
            <a:ext cx="2926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" y="4343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Error correction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434340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84448" y="43434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Manual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434340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30368" y="43434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66560" y="4343400"/>
            <a:ext cx="1783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76288" y="434340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Heuristic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434340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5088" y="434340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Code-execution feedback loop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89204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" y="4892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Multi-chart reasoning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0" y="489204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84448" y="48920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0" y="489204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30368" y="48920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None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4892040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76288" y="489204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Limited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95360" y="489204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05088" y="48920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Dashboard-level cross-chart QA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440680"/>
            <a:ext cx="2926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2648" y="5440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2537"/>
                </a:solidFill>
                <a:latin typeface="Calibri"/>
              </a:rPr>
              <a:t>Reproducibility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0" y="544068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84448" y="54406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20640" y="5440680"/>
            <a:ext cx="1600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30368" y="54406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5440680"/>
            <a:ext cx="178308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76288" y="54406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Partial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95360" y="5440680"/>
            <a:ext cx="306324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05088" y="54406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alibri"/>
              </a:rPr>
              <a:t>✓  (SDK + seed)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F6E"/>
                </a:solidFill>
                <a:latin typeface="Calibri"/>
              </a:rPr>
              <a:t>Key difference: we control data depth, distribution, and cross-chart semantics — not just the surface image.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Three interlocking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A formal substrate → a programmable simulator → a deterministic amortizer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657600" cy="109728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822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C8C8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94A6"/>
                </a:solidFill>
                <a:latin typeface="Calibri"/>
              </a:rPr>
              <a:t>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77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3A5F"/>
                </a:solidFill>
                <a:latin typeface="Calibri"/>
              </a:rPr>
              <a:t>Operator Algebra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537"/>
                </a:solidFill>
                <a:latin typeface="Calibri"/>
              </a:rPr>
              <a:t>Every question is a typed pipeline over Set / Scalar / Bridge operators.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434840"/>
            <a:ext cx="3017520" cy="0"/>
          </a:xfrm>
          <a:prstGeom prst="line">
            <a:avLst/>
          </a:prstGeom>
          <a:ln w="952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8680" y="4727448"/>
            <a:ext cx="82296" cy="82296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2686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16 operators, 2 types (V, S)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38928"/>
            <a:ext cx="82296" cy="82296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3834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Difficulty = # ops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550408"/>
            <a:ext cx="82296" cy="82296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4982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Composable multi-hop 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60020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600200"/>
            <a:ext cx="3657600" cy="109728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822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0F3A5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94A6"/>
                </a:solidFill>
                <a:latin typeface="Calibri"/>
              </a:rPr>
              <a:t>EXECUTABLE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377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3A5F"/>
                </a:solidFill>
                <a:latin typeface="Calibri"/>
              </a:rPr>
              <a:t>Agentic Data 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29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537"/>
                </a:solidFill>
                <a:latin typeface="Calibri"/>
              </a:rPr>
              <a:t>LLM writes Python calling a type-safe SDK — not JSON, not raw numbers.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20" y="4434840"/>
            <a:ext cx="3017520" cy="0"/>
          </a:xfrm>
          <a:prstGeom prst="line">
            <a:avLst/>
          </a:prstGeom>
          <a:ln w="952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663440" y="4727448"/>
            <a:ext cx="82296" cy="82296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62686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Closed-form DGP per measure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5138928"/>
            <a:ext cx="82296" cy="82296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503834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Code-execution feedback loop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5550408"/>
            <a:ext cx="82296" cy="82296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544982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3-layer validator, no LLM re-call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160020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1600200"/>
            <a:ext cx="3657600" cy="109728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920240"/>
            <a:ext cx="822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9721E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94A6"/>
                </a:solidFill>
                <a:latin typeface="Calibri"/>
              </a:rPr>
              <a:t>AMORTIZED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377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F3A5F"/>
                </a:solidFill>
                <a:latin typeface="Calibri"/>
              </a:rPr>
              <a:t>Table Amortization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29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537"/>
                </a:solidFill>
                <a:latin typeface="Calibri"/>
              </a:rPr>
              <a:t>One Master Table → 10–30+ charts with arithmetic consistency guaranteed.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0" y="4434840"/>
            <a:ext cx="3017520" cy="0"/>
          </a:xfrm>
          <a:prstGeom prst="line">
            <a:avLst/>
          </a:prstGeom>
          <a:ln w="952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458200" y="4727448"/>
            <a:ext cx="82296" cy="82296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462686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16 chart types × 7 relationships</a:t>
            </a:r>
          </a:p>
        </p:txBody>
      </p:sp>
      <p:sp>
        <p:nvSpPr>
          <p:cNvPr id="40" name="Oval 39"/>
          <p:cNvSpPr/>
          <p:nvPr/>
        </p:nvSpPr>
        <p:spPr>
          <a:xfrm>
            <a:off x="8458200" y="5138928"/>
            <a:ext cx="82296" cy="82296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503834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Deterministic SQL projection</a:t>
            </a:r>
          </a:p>
        </p:txBody>
      </p:sp>
      <p:sp>
        <p:nvSpPr>
          <p:cNvPr id="42" name="Oval 41"/>
          <p:cNvSpPr/>
          <p:nvPr/>
        </p:nvSpPr>
        <p:spPr>
          <a:xfrm>
            <a:off x="8458200" y="5550408"/>
            <a:ext cx="82296" cy="82296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544982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Cross-chart QA by construction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The 4-phase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LLM called only in phases 0 – 2.  Phase 3 is fully deterministic.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2468880" cy="41148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Domain Pool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Construction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246120"/>
            <a:ext cx="192024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2918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200+ fine-grained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domains, cached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3A5F"/>
                </a:solidFill>
                <a:latin typeface="Calibri"/>
              </a:rPr>
              <a:t>LLM · one-time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01168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011680"/>
            <a:ext cx="2468880" cy="41148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0848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Scenario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Contextualization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246120"/>
            <a:ext cx="192024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74720" y="32918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Entities, metrics,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temporal grain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7033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3A5F"/>
                </a:solidFill>
                <a:latin typeface="Calibri"/>
              </a:rPr>
              <a:t>LLM · per-sample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01168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011680"/>
            <a:ext cx="2468880" cy="41148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0848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56032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Agentic Data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Simulator (SDK)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55080" y="3246120"/>
            <a:ext cx="192024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63640" y="32918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Master Fact Table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+ Schema Metadata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033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3A5F"/>
                </a:solidFill>
                <a:latin typeface="Calibri"/>
              </a:rPr>
              <a:t>LLM · per-sample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01168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2011680"/>
            <a:ext cx="2468880" cy="41148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0848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56032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View Amortization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+ QA Generation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0" y="3246120"/>
            <a:ext cx="192024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52560" y="32918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10–30+ coherent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F2537"/>
                </a:solidFill>
                <a:latin typeface="Calibri"/>
              </a:rPr>
              <a:t>multi-chart tasks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7033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703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C8C8A"/>
                </a:solidFill>
                <a:latin typeface="Calibri"/>
              </a:rPr>
              <a:t>Deterministic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990088" y="2926080"/>
            <a:ext cx="283464" cy="27432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5779008" y="2926080"/>
            <a:ext cx="283464" cy="27432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8567928" y="2926080"/>
            <a:ext cx="283464" cy="27432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909560" y="4114800"/>
            <a:ext cx="0" cy="32004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537960" y="4434840"/>
            <a:ext cx="1371600" cy="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537960" y="4114800"/>
            <a:ext cx="0" cy="320040"/>
          </a:xfrm>
          <a:prstGeom prst="line">
            <a:avLst/>
          </a:prstGeom>
          <a:ln w="19050">
            <a:solidFill>
              <a:srgbClr val="D972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80760" y="44714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D9721E"/>
                </a:solidFill>
                <a:latin typeface="Calibri"/>
              </a:rPr>
              <a:t>Code-execution feedback  (max 3 retries)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074920"/>
            <a:ext cx="11173968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663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4223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3A5F"/>
                </a:solidFill>
                <a:latin typeface="Consolas"/>
              </a:rPr>
              <a:t>{ Chart Images, Questions, Answers, Reasoning Chains }  ×  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Phase 0 &amp; 1:  From domain pool to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Chart types are never mentioned — data is born from business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50292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PHASE 0  ·  Domain Pool  (one-time, cached)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55F6E"/>
                </a:solidFill>
                <a:latin typeface="Calibri"/>
              </a:rPr>
              <a:t>15+ super-sectors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Healthcare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26974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26974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Retail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2697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Transportation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8152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0815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Manufacturing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3824" y="30815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Education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30815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Agriculture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611880"/>
            <a:ext cx="502920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749040"/>
            <a:ext cx="12573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D9721E"/>
                </a:solidFill>
                <a:latin typeface="Calibri"/>
              </a:rPr>
              <a:t>213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5F6E"/>
                </a:solidFill>
                <a:latin typeface="Calibri"/>
              </a:rPr>
              <a:t>domains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8820" y="3749040"/>
            <a:ext cx="12573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D9721E"/>
                </a:solidFill>
                <a:latin typeface="Calibri"/>
              </a:rPr>
              <a:t>15+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8820" y="4206240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5F6E"/>
                </a:solidFill>
                <a:latin typeface="Calibri"/>
              </a:rPr>
              <a:t>topics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749040"/>
            <a:ext cx="12573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D9721E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206240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5F6E"/>
                </a:solidFill>
                <a:latin typeface="Calibri"/>
              </a:rPr>
              <a:t>complexity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3420" y="3749040"/>
            <a:ext cx="12573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D9721E"/>
                </a:solidFill>
                <a:latin typeface="Calibri"/>
              </a:rPr>
              <a:t>0.82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3420" y="4206240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5F6E"/>
                </a:solidFill>
                <a:latin typeface="Calibri"/>
              </a:rPr>
              <a:t>diversity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55F6E"/>
                </a:solidFill>
                <a:latin typeface="Calibri"/>
              </a:rPr>
              <a:t>Complexity-balanced stratification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166360"/>
            <a:ext cx="1676400" cy="32004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67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simple · 71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07920" y="5166360"/>
            <a:ext cx="1700011" cy="32004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07920" y="5166360"/>
            <a:ext cx="170001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medium · 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7931" y="5166360"/>
            <a:ext cx="1652788" cy="32004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07931" y="5166360"/>
            <a:ext cx="16527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complex · 70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16002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1600200"/>
            <a:ext cx="5486400" cy="50292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17099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PHASE 1  ·  Scenario Contextualization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2331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55F6E"/>
                </a:solidFill>
                <a:latin typeface="Calibri"/>
              </a:rPr>
              <a:t>Sampled domain  →  concrete realistic scenario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8232" y="2697480"/>
            <a:ext cx="5029200" cy="33832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283464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3012948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  "scenario_title":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319125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"2024 H1 Shanghai Metro Ridership Log",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369564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  "data_context":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354787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"Shanghai Transport Commission collected ... ",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372618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  "temporal_granularity":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3904488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"daily",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408279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  "key_entities": [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4261104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 "Line 1", "Line 2", "Line 8", 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443941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],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1112" y="461772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  "key_metrics": [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4796028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 { "name": "daily_ridership",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1112" y="497433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   "unit": "10k passengers",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5152644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   "range": [5, 120] },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1112" y="533095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     { "name": "on_time_rate", ... 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550926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],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1112" y="5687568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  "target_rows": 900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86587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8A94A6"/>
                </a:solidFill>
                <a:latin typeface="Calibri"/>
              </a:rPr>
              <a:t>Chart-type isolation is the key to breaking “template disease” in existing benchmarks.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Phase 2 paradigm shift:  code-as-DGP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From brittle JSON configs to executable, type-safe Python.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4924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94A6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55F6E"/>
                </a:solidFill>
                <a:latin typeface="Calibri"/>
              </a:rPr>
              <a:t>LLM-as-Data-Generator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94A6"/>
                </a:solidFill>
                <a:latin typeface="Calibri"/>
              </a:rPr>
              <a:t>writes JSON configs or raw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54680"/>
            <a:ext cx="4800600" cy="20116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{ "columns": [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11296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B36B"/>
                </a:solidFill>
                <a:latin typeface="Consolas"/>
              </a:rPr>
              <a:t>    { "name": "sales",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30752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E5A0"/>
                </a:solidFill>
                <a:latin typeface="Consolas"/>
              </a:rPr>
              <a:t>      "values": [42, 73, 61, 88]  },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50208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B36B"/>
                </a:solidFill>
                <a:latin typeface="Consolas"/>
              </a:rPr>
              <a:t>    { "name": "profit_margin",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4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E5A0"/>
                </a:solidFill>
                <a:latin typeface="Consolas"/>
              </a:rPr>
              <a:t>      "values": [0.12, 0.21, 0.18,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E5A0"/>
                </a:solidFill>
                <a:latin typeface="Consolas"/>
              </a:rPr>
              <a:t>                 1.34]  ←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08576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   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28032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], "correlation": 0.9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9496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21E"/>
                </a:solidFill>
                <a:latin typeface="Calibri"/>
              </a:rPr>
              <a:t>✗  Numeric impossibilities slip 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21E"/>
                </a:solidFill>
                <a:latin typeface="Calibri"/>
              </a:rPr>
              <a:t>✗  Correlations infeasible to enforce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4360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21E"/>
                </a:solidFill>
                <a:latin typeface="Calibri"/>
              </a:rPr>
              <a:t>✗  Only syntactic validation possible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97880" y="3703320"/>
            <a:ext cx="411480" cy="45720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7648" y="1600200"/>
            <a:ext cx="53492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1600200"/>
            <a:ext cx="5349240" cy="109728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87452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21E"/>
                </a:solidFill>
                <a:latin typeface="Calibri"/>
              </a:rPr>
              <a:t>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14884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3A5F"/>
                </a:solidFill>
                <a:latin typeface="Calibri"/>
              </a:rPr>
              <a:t>LLM-as-Data-Programmer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6517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F6E"/>
                </a:solidFill>
                <a:latin typeface="Calibri"/>
              </a:rPr>
              <a:t>writes Python calling a type-safe SDK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3154680"/>
            <a:ext cx="4800600" cy="20116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3291840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sim.add_category("hospital",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465576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  values=["Xiehe","Huashan",...],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639312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  group="entity")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813048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986784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sim.add_measure("wait_minutes",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4160520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  family="lognormal",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334256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  param_model={...})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507992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4681728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B36B"/>
                </a:solidFill>
                <a:latin typeface="Consolas"/>
              </a:rPr>
              <a:t>sim.declare_orthogonal(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4855464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B36B"/>
                </a:solidFill>
                <a:latin typeface="Consolas"/>
              </a:rPr>
              <a:t>    "entity", "patient")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39496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8C8A"/>
                </a:solidFill>
                <a:latin typeface="Calibri"/>
              </a:rPr>
              <a:t>✓  Semantic errors caught at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566928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8C8A"/>
                </a:solidFill>
                <a:latin typeface="Calibri"/>
              </a:rPr>
              <a:t>✓  Typed exceptions → targeted LLM repair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594360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8C8A"/>
                </a:solidFill>
                <a:latin typeface="Calibri"/>
              </a:rPr>
              <a:t>✓  3-layer validator runs in milliseconds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The FactTableSimulator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Minimal, strongly-typed API — everything an LLM needs, nothing it doesn't.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7607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3A5F"/>
                </a:solidFill>
                <a:latin typeface="Calibri"/>
              </a:rPr>
              <a:t>SDK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STEP 1  ·  Column declarations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96312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add_category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96312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cat col  •  group  •  hierarchy via parent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add_temporal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time col  •  auto-derive DOW /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64408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64408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add_measure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64408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stochastic root  •  dist + effects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48456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48456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add_measure_structural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648456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formula of other measures +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2394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STEP 2  ·  Relationships &amp;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79976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79976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declare_orthogonal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79976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group ⊥ group  →  propagates to pairs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64024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64024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add_group_dependency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64024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root-level DAG across groups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48072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48072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inject_pattern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148072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outlier / trend_break / reversal /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32120"/>
            <a:ext cx="5303520" cy="33832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2194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3A5F"/>
                </a:solidFill>
                <a:latin typeface="Consolas"/>
              </a:rPr>
              <a:t>set_realism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53212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F6E"/>
                </a:solidFill>
                <a:latin typeface="Calibri"/>
              </a:rPr>
              <a:t>missing / dirty / censoring  (optional)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16002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1783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36B"/>
                </a:solidFill>
                <a:latin typeface="Consolas"/>
              </a:rPr>
              <a:t>emergency_records.py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10312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sim = FactTableSimulator(target_rows=500)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256739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41035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# Step 1 — declare columns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563977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sim.add_category("hospital",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71759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values=["Xiehe","Huashan","Ruijin",...],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871215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group="entity")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024834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178453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sim.add_category("severity",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332072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values=["Mild","Moderate","Severe"],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485691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group="patient")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63931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792929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sim.add_measure("wait_minutes",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94654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family="lognormal",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100167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param_model={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25378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  "mu": {"intercept": 2.8,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407405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    "effects": {"severity": {...}}}})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561024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714643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sim.add_measure_structural("cost",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868262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formula="wait_minutes*12 + surcharge",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021881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noise={"family":"gaussian","sigma":30})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17550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5329119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B36B"/>
                </a:solidFill>
                <a:latin typeface="Consolas"/>
              </a:rPr>
              <a:t># Step 2 — relationships &amp; patterns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48273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sim.declare_orthogonal("entity","patient")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636357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sim.inject_pattern("outlier_entity", ...)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578997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5943595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5A0"/>
                </a:solidFill>
                <a:latin typeface="Consolas"/>
              </a:rPr>
              <a:t>df, meta = sim.generate()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Dimension groups &amp; orthogonality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One abstraction unifies categorical, temporal, cross-group semantics.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383280" cy="50292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group  "entity"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249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root, 5 vals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2999232"/>
            <a:ext cx="0" cy="292608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" y="3291840"/>
            <a:ext cx="1371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78992" y="3090672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127248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46704"/>
            <a:ext cx="2441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child, 4 vals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97864" y="3621024"/>
            <a:ext cx="0" cy="292608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97864" y="3913632"/>
            <a:ext cx="1371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35024" y="3712464"/>
            <a:ext cx="2414016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2184" y="3749040"/>
            <a:ext cx="2185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184" y="3968496"/>
            <a:ext cx="2185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grand-child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69164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1691640"/>
            <a:ext cx="3383280" cy="50292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8013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group  "patient"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468880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50545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severity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249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root, 3 vals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53712" y="2999232"/>
            <a:ext cx="0" cy="292608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53712" y="3291840"/>
            <a:ext cx="1371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90872" y="3090672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3127248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acuity_level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346704"/>
            <a:ext cx="2441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child, 4 vals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80" y="169164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80" y="1691640"/>
            <a:ext cx="3383280" cy="5029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18013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group  "time"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468880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250545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visit_date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27249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root (temporal)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65592" y="2999232"/>
            <a:ext cx="0" cy="292608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65592" y="3291840"/>
            <a:ext cx="1371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02752" y="3090672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912" y="3127248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day_of_week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3346704"/>
            <a:ext cx="2441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derived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21624" y="3621024"/>
            <a:ext cx="0" cy="292608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21624" y="3913632"/>
            <a:ext cx="1371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558784" y="3712464"/>
            <a:ext cx="2414016" cy="502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95944" y="3749040"/>
            <a:ext cx="2185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onsolas"/>
              </a:rPr>
              <a:t>month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5944" y="3968496"/>
            <a:ext cx="2185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4A6"/>
                </a:solidFill>
                <a:latin typeface="Calibri"/>
              </a:rPr>
              <a:t>derived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194560.0" y="4800600"/>
            <a:ext cx="0.0" cy="22860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06440.0" y="4800600"/>
            <a:ext cx="0.0" cy="22860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194560.0" y="5029200"/>
            <a:ext cx="3611880.0" cy="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720340" y="4809744"/>
            <a:ext cx="25603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20340" y="480974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9721E"/>
                </a:solidFill>
                <a:latin typeface="Consolas"/>
              </a:rPr>
              <a:t>entity  ⊥  patient   (declare_orthogonal)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7150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F6E"/>
                </a:solidFill>
                <a:latin typeface="Calibri"/>
              </a:rPr>
              <a:t>Declare once at group level  →  propagates to all cross-group pairs  →  validated by χ² 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8A94A6"/>
                </a:solidFill>
                <a:latin typeface="Calibri"/>
              </a:rPr>
              <a:t>→  Enables Orthogonal-Slice dashboards &amp; independence-based multi-chart QA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DAG-ordered event-level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Every row is one atomic event.  No cross-product, no repetition.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7396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645920" cy="932688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LAYER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Independent roots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728216"/>
            <a:ext cx="2932176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764792"/>
            <a:ext cx="2703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270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Cat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1056" y="1728216"/>
            <a:ext cx="2932176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8216" y="1764792"/>
            <a:ext cx="2703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8216" y="2011680"/>
            <a:ext cx="270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Cat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0392" y="1728216"/>
            <a:ext cx="2932176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7552" y="1764792"/>
            <a:ext cx="2703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visit_date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7552" y="2011680"/>
            <a:ext cx="270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Temp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42616"/>
            <a:ext cx="1117396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42616"/>
            <a:ext cx="1645920" cy="932688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797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5409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Dependent non-measures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2770632"/>
            <a:ext cx="2164842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807208"/>
            <a:ext cx="193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department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054096"/>
            <a:ext cx="1936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Cat | hospital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3722" y="2770632"/>
            <a:ext cx="2164842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0882" y="2807208"/>
            <a:ext cx="193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0882" y="3054096"/>
            <a:ext cx="1936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Cat | severity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35724" y="2770632"/>
            <a:ext cx="2164842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2884" y="2807208"/>
            <a:ext cx="193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day_of_week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2884" y="3054096"/>
            <a:ext cx="1936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derive(visit_date)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7726" y="2770632"/>
            <a:ext cx="2164842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4886" y="2807208"/>
            <a:ext cx="193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4886" y="3054096"/>
            <a:ext cx="1936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derive(visit_date)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685032"/>
            <a:ext cx="1117396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685032"/>
            <a:ext cx="1645920" cy="932688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2219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096512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Stochastic measure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3813048"/>
            <a:ext cx="9070848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3849624"/>
            <a:ext cx="8842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wait_minutes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096512"/>
            <a:ext cx="8842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LogNormal(μ(sev, hosp), σ(sev))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727448"/>
            <a:ext cx="1117396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727448"/>
            <a:ext cx="1645920" cy="932688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86460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3892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Structural measures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4855464"/>
            <a:ext cx="4466844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0" y="4892040"/>
            <a:ext cx="4238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cost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138928"/>
            <a:ext cx="42382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12·wait + surcharge(sev) + 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35724" y="4855464"/>
            <a:ext cx="4466844" cy="676656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72884" y="4892040"/>
            <a:ext cx="4238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onsolas"/>
              </a:rPr>
              <a:t>satisfaction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72884" y="5138928"/>
            <a:ext cx="42382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F6E"/>
                </a:solidFill>
                <a:latin typeface="Consolas"/>
              </a:rPr>
              <a:t>9 − 0.04·wait + adj(sev) + ε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234440" y="2514600"/>
            <a:ext cx="182880" cy="164592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1234440" y="3557016"/>
            <a:ext cx="182880" cy="164592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1234440" y="4599432"/>
            <a:ext cx="182880" cy="164592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2920" y="5852160"/>
            <a:ext cx="11173968" cy="5029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537"/>
                </a:solidFill>
                <a:latin typeface="Consolas"/>
              </a:rPr>
              <a:t>After DAG-ordered sampling:  γ  pattern injection  →  δ  realism (optional)  →  τ  post-process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Three-layer validation  +  code-execution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Semantic errors, not just syntactic ones.  Auto-fix without LLM re-call.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607" y="169164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607" y="1691640"/>
            <a:ext cx="2468880" cy="219456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17099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19659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writes Python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calling the SDK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33775" y="2011680"/>
            <a:ext cx="237744" cy="18288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9807" y="169164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8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9807" y="1691640"/>
            <a:ext cx="2468880" cy="219456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6967" y="17099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19659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executes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build_fact_table()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76975" y="2011680"/>
            <a:ext cx="237744" cy="18288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3007" y="169164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691640"/>
            <a:ext cx="2468880" cy="219456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17099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Validator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9659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L1 · L2 · L3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deterministic checks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20175" y="2011680"/>
            <a:ext cx="237744" cy="18288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76207" y="169164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6207" y="1691640"/>
            <a:ext cx="2468880" cy="219456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3367" y="17099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Auto-fix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3367" y="19659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parameter tweak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no LLM re-call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10647.5" y="2514600"/>
            <a:ext cx="0.0" cy="32004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724247.5" y="2834640"/>
            <a:ext cx="5486400.0" cy="0"/>
          </a:xfrm>
          <a:prstGeom prst="line">
            <a:avLst/>
          </a:prstGeom>
          <a:ln w="19050">
            <a:solidFill>
              <a:srgbClr val="D972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724247.5" y="2514600"/>
            <a:ext cx="0.0" cy="320040"/>
          </a:xfrm>
          <a:prstGeom prst="line">
            <a:avLst/>
          </a:prstGeom>
          <a:ln w="19050">
            <a:solidFill>
              <a:srgbClr val="D972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38647" y="2862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D9721E"/>
                </a:solidFill>
                <a:latin typeface="Calibri"/>
              </a:rPr>
              <a:t>re-execute  (max 3 retries)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67447.5" y="2834640"/>
            <a:ext cx="0.0" cy="365760"/>
          </a:xfrm>
          <a:prstGeom prst="line">
            <a:avLst/>
          </a:prstGeom>
          <a:ln w="15240">
            <a:solidFill>
              <a:srgbClr val="8A94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981047.5" y="3200400"/>
            <a:ext cx="5486400.0" cy="0"/>
          </a:xfrm>
          <a:prstGeom prst="line">
            <a:avLst/>
          </a:prstGeom>
          <a:ln w="15240">
            <a:solidFill>
              <a:srgbClr val="8A94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81047.5" y="2514600"/>
            <a:ext cx="0.0" cy="685800"/>
          </a:xfrm>
          <a:prstGeom prst="line">
            <a:avLst/>
          </a:prstGeom>
          <a:ln w="15240">
            <a:solidFill>
              <a:srgbClr val="8A94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21127" y="32278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8A94A6"/>
                </a:solidFill>
                <a:latin typeface="Calibri"/>
              </a:rPr>
              <a:t>typed exception + traceback  →  LLM repair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61188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38130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813048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0448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3A5F"/>
                </a:solidFill>
                <a:latin typeface="Calibri"/>
              </a:rPr>
              <a:t>Structural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800600"/>
            <a:ext cx="91440" cy="91440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Row count within 10%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010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Categorical cardinality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" y="5404104"/>
            <a:ext cx="91440" cy="91440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312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Finite measures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" y="5705856"/>
            <a:ext cx="91440" cy="91440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6144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χ²  for orthogonal pairs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" y="6007608"/>
            <a:ext cx="91440" cy="91440"/>
          </a:xfrm>
          <a:prstGeom prst="ellipse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9161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Measure DAG acyclicity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61188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89704" y="38130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9704" y="3813048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12664" y="390448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3A5F"/>
                </a:solidFill>
                <a:latin typeface="Calibri"/>
              </a:rPr>
              <a:t>Statistical</a:t>
            </a:r>
          </a:p>
        </p:txBody>
      </p:sp>
      <p:sp>
        <p:nvSpPr>
          <p:cNvPr id="50" name="Oval 49"/>
          <p:cNvSpPr/>
          <p:nvPr/>
        </p:nvSpPr>
        <p:spPr>
          <a:xfrm>
            <a:off x="4581144" y="4800600"/>
            <a:ext cx="91440" cy="91440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64024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KS test per predictor cell</a:t>
            </a:r>
          </a:p>
        </p:txBody>
      </p:sp>
      <p:sp>
        <p:nvSpPr>
          <p:cNvPr id="52" name="Oval 51"/>
          <p:cNvSpPr/>
          <p:nvPr/>
        </p:nvSpPr>
        <p:spPr>
          <a:xfrm>
            <a:off x="4581144" y="5102352"/>
            <a:ext cx="91440" cy="91440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64024" y="5010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Structural residual mean</a:t>
            </a:r>
          </a:p>
        </p:txBody>
      </p:sp>
      <p:sp>
        <p:nvSpPr>
          <p:cNvPr id="54" name="Oval 53"/>
          <p:cNvSpPr/>
          <p:nvPr/>
        </p:nvSpPr>
        <p:spPr>
          <a:xfrm>
            <a:off x="4581144" y="5404104"/>
            <a:ext cx="91440" cy="91440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64024" y="5312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Structural residual σ</a:t>
            </a:r>
          </a:p>
        </p:txBody>
      </p:sp>
      <p:sp>
        <p:nvSpPr>
          <p:cNvPr id="56" name="Oval 55"/>
          <p:cNvSpPr/>
          <p:nvPr/>
        </p:nvSpPr>
        <p:spPr>
          <a:xfrm>
            <a:off x="4581144" y="5705856"/>
            <a:ext cx="91440" cy="91440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64024" y="56144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Conditional transitions</a:t>
            </a:r>
          </a:p>
        </p:txBody>
      </p:sp>
      <p:sp>
        <p:nvSpPr>
          <p:cNvPr id="58" name="Oval 57"/>
          <p:cNvSpPr/>
          <p:nvPr/>
        </p:nvSpPr>
        <p:spPr>
          <a:xfrm>
            <a:off x="4581144" y="6007608"/>
            <a:ext cx="91440" cy="91440"/>
          </a:xfrm>
          <a:prstGeom prst="ellipse">
            <a:avLst/>
          </a:prstGeom>
          <a:solidFill>
            <a:srgbClr val="2C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64024" y="59161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Correlation ± 0.15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19288" y="361188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47888" y="38130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7888" y="3813048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0848" y="390448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3A5F"/>
                </a:solidFill>
                <a:latin typeface="Calibri"/>
              </a:rPr>
              <a:t>Pattern</a:t>
            </a:r>
          </a:p>
        </p:txBody>
      </p:sp>
      <p:sp>
        <p:nvSpPr>
          <p:cNvPr id="64" name="Oval 63"/>
          <p:cNvSpPr/>
          <p:nvPr/>
        </p:nvSpPr>
        <p:spPr>
          <a:xfrm>
            <a:off x="8339328" y="4800600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22208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Outlier z ≥ 2.0</a:t>
            </a:r>
          </a:p>
        </p:txBody>
      </p:sp>
      <p:sp>
        <p:nvSpPr>
          <p:cNvPr id="66" name="Oval 65"/>
          <p:cNvSpPr/>
          <p:nvPr/>
        </p:nvSpPr>
        <p:spPr>
          <a:xfrm>
            <a:off x="8339328" y="5102352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22208" y="5010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Trend-break magnitude</a:t>
            </a:r>
          </a:p>
        </p:txBody>
      </p:sp>
      <p:sp>
        <p:nvSpPr>
          <p:cNvPr id="68" name="Oval 67"/>
          <p:cNvSpPr/>
          <p:nvPr/>
        </p:nvSpPr>
        <p:spPr>
          <a:xfrm>
            <a:off x="8339328" y="5404104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2208" y="5312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Ranking reversal sign</a:t>
            </a:r>
          </a:p>
        </p:txBody>
      </p:sp>
      <p:sp>
        <p:nvSpPr>
          <p:cNvPr id="70" name="Oval 69"/>
          <p:cNvSpPr/>
          <p:nvPr/>
        </p:nvSpPr>
        <p:spPr>
          <a:xfrm>
            <a:off x="8339328" y="5705856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22208" y="56144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Dominance-shift check</a:t>
            </a:r>
          </a:p>
        </p:txBody>
      </p:sp>
      <p:sp>
        <p:nvSpPr>
          <p:cNvPr id="72" name="Oval 71"/>
          <p:cNvSpPr/>
          <p:nvPr/>
        </p:nvSpPr>
        <p:spPr>
          <a:xfrm>
            <a:off x="8339328" y="6007608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22208" y="59161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537"/>
                </a:solidFill>
                <a:latin typeface="Calibri"/>
              </a:rPr>
              <a:t>Seasonal anomaly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Table amortization: one table → many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Every derived chart shares the same ground-truth arithmetic by construction.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108960" cy="210312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solidFill>
            <a:srgbClr val="08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MASTER FACT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54680"/>
            <a:ext cx="2560320" cy="13716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355848"/>
            <a:ext cx="256032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557016"/>
            <a:ext cx="2560320" cy="13716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758184"/>
            <a:ext cx="256032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959352"/>
            <a:ext cx="2560320" cy="13716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256032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55F6E"/>
                </a:solidFill>
                <a:latin typeface="Calibri"/>
              </a:rPr>
              <a:t>atomic events  ·  500–3000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6459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7373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721E"/>
                </a:solidFill>
                <a:latin typeface="Calibri"/>
              </a:rPr>
              <a:t>VIEW 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9751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F3A5F"/>
                </a:solidFill>
                <a:latin typeface="Consolas"/>
              </a:rPr>
              <a:t>σ ∘ γ ∘ π  (M)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600200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600200"/>
            <a:ext cx="109728" cy="658368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6733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alibri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947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F6E"/>
                </a:solidFill>
                <a:latin typeface="Consolas"/>
              </a:rPr>
              <a:t>bar  ·  grouped_bar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749040" y="1929384.0"/>
            <a:ext cx="804672" cy="1591056.0"/>
          </a:xfrm>
          <a:prstGeom prst="line">
            <a:avLst/>
          </a:prstGeom>
          <a:ln w="952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0" y="2368296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2368296"/>
            <a:ext cx="109728" cy="658368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44144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alibri"/>
              </a:rPr>
              <a:t>Trend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15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F6E"/>
                </a:solidFill>
                <a:latin typeface="Consolas"/>
              </a:rPr>
              <a:t>line  ·  area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749040" y="2697480.0"/>
            <a:ext cx="804672" cy="822960.0"/>
          </a:xfrm>
          <a:prstGeom prst="line">
            <a:avLst/>
          </a:prstGeom>
          <a:ln w="952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0" y="3136392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3136392"/>
            <a:ext cx="109728" cy="658368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2095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alibri"/>
              </a:rPr>
              <a:t>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4838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F6E"/>
                </a:solidFill>
                <a:latin typeface="Consolas"/>
              </a:rPr>
              <a:t>histogram  ·  box  ·  violin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3749040" y="3465576.0"/>
            <a:ext cx="804672" cy="54864.0"/>
          </a:xfrm>
          <a:prstGeom prst="line">
            <a:avLst/>
          </a:prstGeom>
          <a:ln w="952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72000" y="3904488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3904488"/>
            <a:ext cx="109728" cy="658368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9776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alibri"/>
              </a:rPr>
              <a:t>Composition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F6E"/>
                </a:solidFill>
                <a:latin typeface="Consolas"/>
              </a:rPr>
              <a:t>pie  ·  donut  ·  stacked_bar  ·  treemap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49040" y="3520440.0"/>
            <a:ext cx="804672" cy="713232.0"/>
          </a:xfrm>
          <a:prstGeom prst="line">
            <a:avLst/>
          </a:prstGeom>
          <a:ln w="952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0" y="4672584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4672584"/>
            <a:ext cx="109728" cy="658368"/>
          </a:xfrm>
          <a:prstGeom prst="rect">
            <a:avLst/>
          </a:prstGeom>
          <a:solidFill>
            <a:srgbClr val="1B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474573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alibri"/>
              </a:rPr>
              <a:t>Relationship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0200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F6E"/>
                </a:solidFill>
                <a:latin typeface="Consolas"/>
              </a:rPr>
              <a:t>scatter  ·  bubble  ·  heatmap  ·  radar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49040" y="3520440.0"/>
            <a:ext cx="804672" cy="1481328.0"/>
          </a:xfrm>
          <a:prstGeom prst="line">
            <a:avLst/>
          </a:prstGeom>
          <a:ln w="952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572000" y="5440680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5440680"/>
            <a:ext cx="109728" cy="658368"/>
          </a:xfrm>
          <a:prstGeom prst="rect">
            <a:avLst/>
          </a:prstGeom>
          <a:solidFill>
            <a:srgbClr val="B5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551383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3A5F"/>
                </a:solidFill>
                <a:latin typeface="Calibri"/>
              </a:rPr>
              <a:t>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788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F6E"/>
                </a:solidFill>
                <a:latin typeface="Consolas"/>
              </a:rPr>
              <a:t>waterfall  ·  funnel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49040" y="3520440.0"/>
            <a:ext cx="804672" cy="2249424.0"/>
          </a:xfrm>
          <a:prstGeom prst="line">
            <a:avLst/>
          </a:prstGeom>
          <a:ln w="952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503920" y="1600200"/>
            <a:ext cx="3182112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1737360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3A5F"/>
                </a:solidFill>
                <a:latin typeface="Calibri"/>
              </a:rPr>
              <a:t>7 inter-chart relationships</a:t>
            </a:r>
          </a:p>
        </p:txBody>
      </p:sp>
      <p:sp>
        <p:nvSpPr>
          <p:cNvPr id="50" name="Oval 49"/>
          <p:cNvSpPr/>
          <p:nvPr/>
        </p:nvSpPr>
        <p:spPr>
          <a:xfrm>
            <a:off x="8823960" y="2331720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2240280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Drill-down</a:t>
            </a:r>
          </a:p>
        </p:txBody>
      </p:sp>
      <p:sp>
        <p:nvSpPr>
          <p:cNvPr id="52" name="Oval 51"/>
          <p:cNvSpPr/>
          <p:nvPr/>
        </p:nvSpPr>
        <p:spPr>
          <a:xfrm>
            <a:off x="8823960" y="2679192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2587752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Orthogonal Slice</a:t>
            </a:r>
          </a:p>
        </p:txBody>
      </p:sp>
      <p:sp>
        <p:nvSpPr>
          <p:cNvPr id="54" name="Oval 53"/>
          <p:cNvSpPr/>
          <p:nvPr/>
        </p:nvSpPr>
        <p:spPr>
          <a:xfrm>
            <a:off x="8823960" y="3026664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2935224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Comparative</a:t>
            </a:r>
          </a:p>
        </p:txBody>
      </p:sp>
      <p:sp>
        <p:nvSpPr>
          <p:cNvPr id="56" name="Oval 55"/>
          <p:cNvSpPr/>
          <p:nvPr/>
        </p:nvSpPr>
        <p:spPr>
          <a:xfrm>
            <a:off x="8823960" y="3374136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3282696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Dual-Metric</a:t>
            </a:r>
          </a:p>
        </p:txBody>
      </p:sp>
      <p:sp>
        <p:nvSpPr>
          <p:cNvPr id="58" name="Oval 57"/>
          <p:cNvSpPr/>
          <p:nvPr/>
        </p:nvSpPr>
        <p:spPr>
          <a:xfrm>
            <a:off x="8823960" y="3721608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06840" y="3630168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Part-Whole</a:t>
            </a:r>
          </a:p>
        </p:txBody>
      </p:sp>
      <p:sp>
        <p:nvSpPr>
          <p:cNvPr id="60" name="Oval 59"/>
          <p:cNvSpPr/>
          <p:nvPr/>
        </p:nvSpPr>
        <p:spPr>
          <a:xfrm>
            <a:off x="8823960" y="4069080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3977640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Associative</a:t>
            </a:r>
          </a:p>
        </p:txBody>
      </p:sp>
      <p:sp>
        <p:nvSpPr>
          <p:cNvPr id="62" name="Oval 61"/>
          <p:cNvSpPr/>
          <p:nvPr/>
        </p:nvSpPr>
        <p:spPr>
          <a:xfrm>
            <a:off x="8823960" y="4416552"/>
            <a:ext cx="91440" cy="91440"/>
          </a:xfrm>
          <a:prstGeom prst="ellipse">
            <a:avLst/>
          </a:prstGeom>
          <a:solidFill>
            <a:srgbClr val="D97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06840" y="4325112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Causal Chain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23960" y="4946904"/>
            <a:ext cx="2542032" cy="100584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23960" y="499262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10 – 30+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60" y="5495544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coherent tasks per table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8A94A6"/>
                </a:solidFill>
                <a:latin typeface="Calibri"/>
              </a:rPr>
              <a:t>1 LLM call  →  1 script  →  1 Master Table  →  16 chart types × 7 relationships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Operator algebra: a question is a typed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Two types  (V, S).  Four operator families.  Difficulty = # ops.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788920" cy="41148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SET  (V → 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488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5336" y="21488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Sort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1488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9631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GroupBy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16002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1600200"/>
            <a:ext cx="2788920" cy="41148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6733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SCALAR  (V → 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7016" y="21488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Max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1488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6904" y="21488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Avg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6" y="249631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4963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249631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ArgMax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284378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ArgMin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84378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ValueAt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16002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1600200"/>
            <a:ext cx="2788920" cy="411480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6733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COMBINATOR  (S,S → 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1488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Diff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1464" y="21488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0">
                <a:solidFill>
                  <a:srgbClr val="0F3A5F"/>
                </a:solidFill>
                <a:latin typeface="Calibri"/>
              </a:rPr>
              <a:t>Ratio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16002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71432" y="1600200"/>
            <a:ext cx="2788920" cy="41148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6733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BRIDGE  (S,V → V | V,V → 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6024" y="2148840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36024" y="2148840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F3A5F"/>
                </a:solidFill>
                <a:latin typeface="Calibri"/>
              </a:rPr>
              <a:t>EntityTransfer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6024" y="2478024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36024" y="2478024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F3A5F"/>
                </a:solidFill>
                <a:latin typeface="Calibri"/>
              </a:rPr>
              <a:t>ValueTransfer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6024" y="2807208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36024" y="2807208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F3A5F"/>
                </a:solidFill>
                <a:latin typeface="Calibri"/>
              </a:rPr>
              <a:t>TrendCompare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36024" y="313639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6024" y="3136392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F3A5F"/>
                </a:solidFill>
                <a:latin typeface="Calibri"/>
              </a:rPr>
              <a:t>RankCompare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9721E"/>
                </a:solidFill>
                <a:latin typeface="Calibri"/>
              </a:rPr>
              <a:t>Example pipeline  (3 ops, MEDIUM)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61007" y="4114800"/>
            <a:ext cx="640080" cy="73152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61007" y="41148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</a:rPr>
              <a:t>V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301087" y="4370832"/>
            <a:ext cx="411480" cy="219456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12567" y="411480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2567" y="411480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3A5F"/>
                </a:solidFill>
                <a:latin typeface="Consolas"/>
              </a:rPr>
              <a:t>Sort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992727" y="4370832"/>
            <a:ext cx="411480" cy="219456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04207" y="4114800"/>
            <a:ext cx="640080" cy="73152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04207" y="41148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</a:rPr>
              <a:t>V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044287" y="4370832"/>
            <a:ext cx="411480" cy="219456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55767" y="411480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55767" y="411480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3A5F"/>
                </a:solidFill>
                <a:latin typeface="Consolas"/>
              </a:rPr>
              <a:t>Limit(3)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735927" y="4370832"/>
            <a:ext cx="411480" cy="219456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147407" y="4114800"/>
            <a:ext cx="640080" cy="73152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47407" y="41148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</a:rPr>
              <a:t>V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787487" y="4370832"/>
            <a:ext cx="411480" cy="219456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8967" y="411480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98967" y="411480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3A5F"/>
                </a:solidFill>
                <a:latin typeface="Consolas"/>
              </a:rPr>
              <a:t>Avg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9479127" y="4370832"/>
            <a:ext cx="411480" cy="219456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890607" y="4114800"/>
            <a:ext cx="640080" cy="731520"/>
          </a:xfrm>
          <a:prstGeom prst="roundRect">
            <a:avLst>
              <a:gd name="adj" fmla="val 8000"/>
            </a:avLst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0607" y="41148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71600" y="534924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54480" y="54406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QUESTION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54480" y="569671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0F3A5F"/>
                </a:solidFill>
                <a:latin typeface="Calibri"/>
              </a:rPr>
              <a:t>“What is the average wait time of the top-3 hospitals?”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Cross-chart reasoning via bridge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A multi-chart question chains two pipelines through a typed bridge.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49377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A5F"/>
                </a:solidFill>
                <a:latin typeface="Calibri"/>
              </a:rPr>
              <a:t>7 relationships  →  valid bridges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44805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Drill-down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4028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EntityTransfer · ValueTransfer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15768"/>
            <a:ext cx="4480560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Orthogonal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15768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EntityTransfer · RankCompare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91256"/>
            <a:ext cx="44805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9125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Comparative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9125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ValueTransfer · TrendCompare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66744"/>
            <a:ext cx="4480560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6674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Dual-Metric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66744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EntityTransfer · RankCompare · ValueTransfer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42232"/>
            <a:ext cx="44805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4223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Part-Whole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142232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EntityTransfer · ValueTransfer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17720"/>
            <a:ext cx="4480560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Associative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61772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RankCompare · EntityTransfer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93208"/>
            <a:ext cx="44805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3A5F"/>
                </a:solidFill>
                <a:latin typeface="Calibri"/>
              </a:rPr>
              <a:t>Causal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093208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537"/>
                </a:solidFill>
                <a:latin typeface="Consolas"/>
              </a:rPr>
              <a:t>EntityTransfer · ValueTransfer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1600200"/>
            <a:ext cx="6016752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0" y="1600200"/>
            <a:ext cx="6016752" cy="109728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1783080"/>
            <a:ext cx="5559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21E"/>
                </a:solidFill>
                <a:latin typeface="Calibri"/>
              </a:rPr>
              <a:t>EXAMPLE  ·  Dual-Metric with EntityTransfer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3317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4231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3A5F"/>
                </a:solidFill>
                <a:latin typeface="Calibri"/>
              </a:rPr>
              <a:t>Chart A: hospital × wait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898648"/>
            <a:ext cx="320040" cy="50292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2624328"/>
            <a:ext cx="320040" cy="77724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78040" y="2990088"/>
            <a:ext cx="320040" cy="41148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35240" y="2807208"/>
            <a:ext cx="320040" cy="59436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41071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D9721E"/>
                </a:solidFill>
                <a:latin typeface="Calibri"/>
              </a:rPr>
              <a:t>Xiehe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42832" y="23317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992" y="24231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3A5F"/>
                </a:solidFill>
                <a:latin typeface="Calibri"/>
              </a:rPr>
              <a:t>Chart B: hospital × cost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71432" y="2944368"/>
            <a:ext cx="320040" cy="45720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28632" y="2761488"/>
            <a:ext cx="320040" cy="64008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85832" y="3035808"/>
            <a:ext cx="320040" cy="36576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43032" y="2898648"/>
            <a:ext cx="320040" cy="50292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341071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D9721E"/>
                </a:solidFill>
                <a:latin typeface="Calibri"/>
              </a:rPr>
              <a:t>Xiehe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1" y="3840480"/>
            <a:ext cx="486245" cy="438912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1" y="3840480"/>
            <a:ext cx="4862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V_a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384126" y="3959352"/>
            <a:ext cx="154910" cy="201168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39036" y="3840480"/>
            <a:ext cx="7315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9036" y="3840480"/>
            <a:ext cx="731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3A5F"/>
                </a:solidFill>
                <a:latin typeface="Consolas"/>
              </a:rPr>
              <a:t>ArgMax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270556" y="3959352"/>
            <a:ext cx="154910" cy="201168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425466" y="3840480"/>
            <a:ext cx="813278" cy="438912"/>
          </a:xfrm>
          <a:prstGeom prst="roundRect">
            <a:avLst>
              <a:gd name="adj" fmla="val 8000"/>
            </a:avLst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5466" y="3840480"/>
            <a:ext cx="813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'Xiehe'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238744" y="3959352"/>
            <a:ext cx="154910" cy="201168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393654" y="3840480"/>
            <a:ext cx="7315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3654" y="3840480"/>
            <a:ext cx="731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3A5F"/>
                </a:solidFill>
                <a:latin typeface="Consolas"/>
              </a:rPr>
              <a:t>Bridge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9125174" y="3959352"/>
            <a:ext cx="154910" cy="201168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280084" y="3840480"/>
            <a:ext cx="486245" cy="438912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80084" y="3840480"/>
            <a:ext cx="4862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V_b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766329" y="3959352"/>
            <a:ext cx="154910" cy="201168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921239" y="3840480"/>
            <a:ext cx="813278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21239" y="3840480"/>
            <a:ext cx="813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3A5F"/>
                </a:solidFill>
                <a:latin typeface="Consolas"/>
              </a:rPr>
              <a:t>ValueAt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10734517" y="3959352"/>
            <a:ext cx="154910" cy="201168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889427" y="3840480"/>
            <a:ext cx="568003" cy="438912"/>
          </a:xfrm>
          <a:prstGeom prst="roundRect">
            <a:avLst>
              <a:gd name="adj" fmla="val 8000"/>
            </a:avLst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89427" y="3840480"/>
            <a:ext cx="56800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6200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89320" y="4526280"/>
            <a:ext cx="5376672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4599432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QUESTION  ·  difficulty = 3 ops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4846320"/>
            <a:ext cx="5102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0F3A5F"/>
                </a:solidFill>
                <a:latin typeface="Calibri"/>
              </a:rPr>
              <a:t>“The hospital with the longest wait — what is its cost?”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3A5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F6E"/>
                </a:solidFill>
                <a:latin typeface="Calibri"/>
              </a:rPr>
              <a:t>One formal substrate — programmable, amortized, deterministic.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57200" cy="4572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743200" cy="91440"/>
          </a:xfrm>
          <a:prstGeom prst="rect">
            <a:avLst/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3A5F"/>
                </a:solidFill>
                <a:latin typeface="Calibri"/>
              </a:rP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Operator Algebra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017520"/>
            <a:ext cx="228600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1546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Formalizes every chart QA as a typed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6"/>
                </a:solidFill>
                <a:latin typeface="Calibri"/>
              </a:rPr>
              <a:t>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555F6E"/>
                </a:solidFill>
                <a:latin typeface="Consolas"/>
              </a:rPr>
              <a:t>Set · Scalar · Combinator · Bridge  (16 ops, 2 types)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6916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691640"/>
            <a:ext cx="2743200" cy="91440"/>
          </a:xfrm>
          <a:prstGeom prst="rect">
            <a:avLst/>
          </a:prstGeom>
          <a:solidFill>
            <a:srgbClr val="2C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8C8A"/>
                </a:solidFill>
                <a:latin typeface="Calibri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94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Agentic Simulator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84448" y="3017520"/>
            <a:ext cx="228600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84448" y="31546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LLM writes executable SDK code — not JSON, not raw numbers.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6"/>
                </a:solidFill>
                <a:latin typeface="Calibri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6634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555F6E"/>
                </a:solidFill>
                <a:latin typeface="Consolas"/>
              </a:rPr>
              <a:t>Type-safe API · DAG measures · Orthogonality · Pattern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6916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691640"/>
            <a:ext cx="2743200" cy="91440"/>
          </a:xfrm>
          <a:prstGeom prst="rect">
            <a:avLst/>
          </a:prstGeom>
          <a:solidFill>
            <a:srgbClr val="D9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LAYER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194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Table Amortization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37376" y="3017520"/>
            <a:ext cx="228600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37376" y="31546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One Master Table serves 10–30+ coherent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6"/>
                </a:solidFill>
                <a:latin typeface="Calibri"/>
              </a:rPr>
              <a:t>MECHANISM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6634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555F6E"/>
                </a:solidFill>
                <a:latin typeface="Consolas"/>
              </a:rPr>
              <a:t>16 chart types  ×  7 inter-chart relationships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1704" y="16916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1704" y="1691640"/>
            <a:ext cx="2743200" cy="91440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4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B3FA0"/>
                </a:solidFill>
                <a:latin typeface="Calibri"/>
              </a:rPr>
              <a:t>LAYER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2194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3A5F"/>
                </a:solidFill>
                <a:latin typeface="Calibri"/>
              </a:rPr>
              <a:t>Rule-Based QA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90304" y="3017520"/>
            <a:ext cx="2286000" cy="0"/>
          </a:xfrm>
          <a:prstGeom prst="line">
            <a:avLst/>
          </a:prstGeom>
          <a:ln w="15875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90304" y="31546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537"/>
                </a:solidFill>
                <a:latin typeface="Calibri"/>
              </a:rPr>
              <a:t>Deterministic, template-free generation with pattern-seeded hard QA.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6"/>
                </a:solidFill>
                <a:latin typeface="Calibri"/>
              </a:rPr>
              <a:t>MECHANISM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46634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555F6E"/>
                </a:solidFill>
                <a:latin typeface="Consolas"/>
              </a:rPr>
              <a:t>Intra-view · Inter-view · Pattern-triggered · Difficulty = # ops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60720"/>
            <a:ext cx="11173968" cy="685800"/>
          </a:xfrm>
          <a:prstGeom prst="roundRect">
            <a:avLst>
              <a:gd name="adj" fmla="val 8000"/>
            </a:avLst>
          </a:prstGeom>
          <a:solidFill>
            <a:srgbClr val="0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806440"/>
            <a:ext cx="11173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9721E"/>
                </a:solidFill>
                <a:latin typeface="Calibri"/>
              </a:rPr>
              <a:t>CORE GUARANTEE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06247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FFFFFF"/>
                </a:solidFill>
                <a:latin typeface="Calibri"/>
              </a:rPr>
              <a:t>Every chart view shares the same ground-truth arithmetic by construction.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ChartAgent · Atomic-Grain Programmatic Data Synthesis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4A6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